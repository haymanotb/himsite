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6" r:id="rId4"/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6858000" cy="9144000"/>
  <p:embeddedFontLst>
    <p:embeddedFont>
      <p:font typeface="Limelight"/>
      <p:regular r:id="rId39"/>
    </p:embeddedFont>
    <p:embeddedFont>
      <p:font typeface="Nosifer"/>
      <p:regular r:id="rId40"/>
    </p:embeddedFont>
    <p:embeddedFont>
      <p:font typeface="Baumans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4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4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sifer-regular.fntdata"/><Relationship Id="rId20" Type="http://schemas.openxmlformats.org/officeDocument/2006/relationships/slide" Target="slides/slide14.xml"/><Relationship Id="rId41" Type="http://schemas.openxmlformats.org/officeDocument/2006/relationships/font" Target="fonts/Baumans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Limelight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406400" y="448056"/>
            <a:ext cx="11214100" cy="555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2800"/>
              <a:buFont typeface="Calibri"/>
              <a:buNone/>
              <a:defRPr sz="2800">
                <a:solidFill>
                  <a:srgbClr val="3A383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400"/>
              <a:buChar char="•"/>
              <a:defRPr sz="14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59595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2"/>
          <p:cNvCxnSpPr/>
          <p:nvPr/>
        </p:nvCxnSpPr>
        <p:spPr>
          <a:xfrm>
            <a:off x="533400" y="1104900"/>
            <a:ext cx="11119104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6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with Subtitle">
  <p:cSld name="Comparison with Sub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1334292" y="5787811"/>
            <a:ext cx="870509" cy="409651"/>
          </a:xfrm>
          <a:custGeom>
            <a:rect b="b" l="l" r="r" t="t"/>
            <a:pathLst>
              <a:path extrusionOk="0" h="409651" w="870509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2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993286" y="2959593"/>
            <a:ext cx="41836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b="1" sz="2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/>
          <p:nvPr>
            <p:ph idx="2" type="body"/>
          </p:nvPr>
        </p:nvSpPr>
        <p:spPr>
          <a:xfrm>
            <a:off x="830066" y="1898650"/>
            <a:ext cx="10515599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1"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1"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1"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"/>
          <p:cNvSpPr/>
          <p:nvPr/>
        </p:nvSpPr>
        <p:spPr>
          <a:xfrm>
            <a:off x="3019044" y="1583026"/>
            <a:ext cx="6153912" cy="151200"/>
          </a:xfrm>
          <a:custGeom>
            <a:rect b="b" l="l" r="r" t="t"/>
            <a:pathLst>
              <a:path extrusionOk="0" h="123825" w="4629150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6155960" y="2959593"/>
            <a:ext cx="41836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  <a:defRPr b="1" sz="2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4" type="body"/>
          </p:nvPr>
        </p:nvSpPr>
        <p:spPr>
          <a:xfrm>
            <a:off x="811311" y="3294245"/>
            <a:ext cx="4365625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•"/>
              <a:defRPr sz="1400">
                <a:solidFill>
                  <a:srgbClr val="595959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5" type="body"/>
          </p:nvPr>
        </p:nvSpPr>
        <p:spPr>
          <a:xfrm>
            <a:off x="5973985" y="3294245"/>
            <a:ext cx="4365625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•"/>
              <a:defRPr sz="1400">
                <a:solidFill>
                  <a:srgbClr val="595959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5" name="Google Shape;35;p3"/>
          <p:cNvGrpSpPr/>
          <p:nvPr/>
        </p:nvGrpSpPr>
        <p:grpSpPr>
          <a:xfrm>
            <a:off x="9999818" y="-7969"/>
            <a:ext cx="2199425" cy="1945482"/>
            <a:chOff x="9994666" y="-7969"/>
            <a:chExt cx="2199425" cy="1945482"/>
          </a:xfrm>
        </p:grpSpPr>
        <p:sp>
          <p:nvSpPr>
            <p:cNvPr id="36" name="Google Shape;36;p3"/>
            <p:cNvSpPr/>
            <p:nvPr/>
          </p:nvSpPr>
          <p:spPr>
            <a:xfrm>
              <a:off x="10712341" y="-7969"/>
              <a:ext cx="1466283" cy="1009398"/>
            </a:xfrm>
            <a:custGeom>
              <a:rect b="b" l="l" r="r" t="t"/>
              <a:pathLst>
                <a:path extrusionOk="0" h="1009397" w="1466283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10014209" y="321414"/>
              <a:ext cx="2178175" cy="1593786"/>
            </a:xfrm>
            <a:custGeom>
              <a:rect b="b" l="l" r="r" t="t"/>
              <a:pathLst>
                <a:path extrusionOk="0" h="1593786" w="2178174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0732016" y="-7969"/>
              <a:ext cx="1455658" cy="839394"/>
            </a:xfrm>
            <a:custGeom>
              <a:rect b="b" l="l" r="r" t="t"/>
              <a:pathLst>
                <a:path extrusionOk="0" h="839394" w="1455658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1124635" y="1146995"/>
              <a:ext cx="1062524" cy="743767"/>
            </a:xfrm>
            <a:custGeom>
              <a:rect b="b" l="l" r="r" t="t"/>
              <a:pathLst>
                <a:path extrusionOk="0" h="743766" w="1062524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105057" y="1128932"/>
              <a:ext cx="1083775" cy="775643"/>
            </a:xfrm>
            <a:custGeom>
              <a:rect b="b" l="l" r="r" t="t"/>
              <a:pathLst>
                <a:path extrusionOk="0" h="775642" w="1083774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9994666" y="301226"/>
              <a:ext cx="2199425" cy="1636287"/>
            </a:xfrm>
            <a:custGeom>
              <a:rect b="b" l="l" r="r" t="t"/>
              <a:pathLst>
                <a:path extrusionOk="0" h="1636287" w="2199425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5" name="Google Shape;4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8" name="Google Shape;88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6" name="Google Shape;9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404310" y="2484470"/>
            <a:ext cx="5463090" cy="2130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b="0"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Graphical user interface&#10;&#10;Description automatically generated" id="113" name="Google Shape;11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3792" y="138819"/>
            <a:ext cx="2369315" cy="86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Char char="•"/>
              <a:defRPr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16" name="Google Shape;116;p16"/>
          <p:cNvCxnSpPr/>
          <p:nvPr/>
        </p:nvCxnSpPr>
        <p:spPr>
          <a:xfrm>
            <a:off x="533400" y="1104900"/>
            <a:ext cx="11119104" cy="0"/>
          </a:xfrm>
          <a:prstGeom prst="straightConnector1">
            <a:avLst/>
          </a:prstGeom>
          <a:noFill/>
          <a:ln cap="flat" cmpd="sng" w="25400">
            <a:solidFill>
              <a:srgbClr val="D2472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1798721" y="1684338"/>
            <a:ext cx="8594558" cy="2810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  <a:defRPr sz="4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381000" y="519405"/>
            <a:ext cx="1364297" cy="1094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DBF"/>
              </a:buClr>
              <a:buSzPts val="23900"/>
              <a:buNone/>
              <a:defRPr b="1" sz="23900">
                <a:solidFill>
                  <a:srgbClr val="004D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idx="2" type="body"/>
          </p:nvPr>
        </p:nvSpPr>
        <p:spPr>
          <a:xfrm>
            <a:off x="6881813" y="4494213"/>
            <a:ext cx="3511550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8"/>
          <p:cNvSpPr txBox="1"/>
          <p:nvPr>
            <p:ph idx="3" type="body"/>
          </p:nvPr>
        </p:nvSpPr>
        <p:spPr>
          <a:xfrm>
            <a:off x="10609104" y="3399692"/>
            <a:ext cx="1364297" cy="1094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4DBF"/>
              </a:buClr>
              <a:buSzPts val="23900"/>
              <a:buNone/>
              <a:defRPr b="1" sz="23900">
                <a:solidFill>
                  <a:srgbClr val="004DB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8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ctrTitle"/>
          </p:nvPr>
        </p:nvSpPr>
        <p:spPr>
          <a:xfrm>
            <a:off x="1167493" y="1122363"/>
            <a:ext cx="7096933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1" type="subTitle"/>
          </p:nvPr>
        </p:nvSpPr>
        <p:spPr>
          <a:xfrm>
            <a:off x="1167493" y="3602038"/>
            <a:ext cx="9500507" cy="806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5" name="Google Shape;135;p19"/>
          <p:cNvSpPr/>
          <p:nvPr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rgbClr val="004BB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" y="4571999"/>
            <a:ext cx="1118508" cy="1118508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1" y="5739492"/>
            <a:ext cx="1118508" cy="1118508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19"/>
          <p:cNvGrpSpPr/>
          <p:nvPr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40" name="Google Shape;140;p19"/>
            <p:cNvSpPr/>
            <p:nvPr/>
          </p:nvSpPr>
          <p:spPr>
            <a:xfrm rot="-5400000">
              <a:off x="10667433" y="370908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 flipH="1" rot="5400000">
              <a:off x="9499940" y="370908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19"/>
          <p:cNvSpPr/>
          <p:nvPr/>
        </p:nvSpPr>
        <p:spPr>
          <a:xfrm>
            <a:off x="0" y="-1"/>
            <a:ext cx="1167493" cy="1167493"/>
          </a:xfrm>
          <a:custGeom>
            <a:rect b="b" l="l" r="r" t="t"/>
            <a:pathLst>
              <a:path extrusionOk="0" h="862693" w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11024507" y="4580708"/>
            <a:ext cx="1167493" cy="2277292"/>
          </a:xfrm>
          <a:custGeom>
            <a:rect b="b" l="l" r="r" t="t"/>
            <a:pathLst>
              <a:path extrusionOk="0" h="2272167" w="1167493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1167492" y="381000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1167493" y="2017467"/>
            <a:ext cx="9779182" cy="3366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0"/>
          <p:cNvSpPr/>
          <p:nvPr/>
        </p:nvSpPr>
        <p:spPr>
          <a:xfrm flipH="1">
            <a:off x="8580896" y="1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 flipH="1">
            <a:off x="8580896" y="3246896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1" y="0"/>
            <a:ext cx="933856" cy="933856"/>
          </a:xfrm>
          <a:custGeom>
            <a:rect b="b" l="l" r="r" t="t"/>
            <a:pathLst>
              <a:path extrusionOk="0" h="862693" w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" name="Google Shape;150;p20"/>
          <p:cNvGrpSpPr/>
          <p:nvPr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151" name="Google Shape;151;p20"/>
            <p:cNvSpPr/>
            <p:nvPr/>
          </p:nvSpPr>
          <p:spPr>
            <a:xfrm rot="-5400000">
              <a:off x="8223822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0"/>
            <p:cNvSpPr/>
            <p:nvPr/>
          </p:nvSpPr>
          <p:spPr>
            <a:xfrm flipH="1" rot="5400000">
              <a:off x="7056329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20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0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chemeClr val="accent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>
            <a:off x="0" y="2286002"/>
            <a:ext cx="12208822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1"/>
          <p:cNvSpPr/>
          <p:nvPr/>
        </p:nvSpPr>
        <p:spPr>
          <a:xfrm flipH="1">
            <a:off x="8597718" y="3246896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1" y="0"/>
            <a:ext cx="933856" cy="933856"/>
          </a:xfrm>
          <a:custGeom>
            <a:rect b="b" l="l" r="r" t="t"/>
            <a:pathLst>
              <a:path extrusionOk="0" h="862693" w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1"/>
          <p:cNvSpPr/>
          <p:nvPr/>
        </p:nvSpPr>
        <p:spPr>
          <a:xfrm rot="-5400000">
            <a:off x="10344100" y="438098"/>
            <a:ext cx="2285999" cy="1409801"/>
          </a:xfrm>
          <a:custGeom>
            <a:rect b="b" l="l" r="r" t="t"/>
            <a:pathLst>
              <a:path extrusionOk="0" h="1167493" w="1881641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 txBox="1"/>
          <p:nvPr>
            <p:ph type="title"/>
          </p:nvPr>
        </p:nvSpPr>
        <p:spPr>
          <a:xfrm>
            <a:off x="1167492" y="381000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1"/>
          <p:cNvSpPr txBox="1"/>
          <p:nvPr>
            <p:ph idx="1" type="body"/>
          </p:nvPr>
        </p:nvSpPr>
        <p:spPr>
          <a:xfrm>
            <a:off x="1167492" y="2653167"/>
            <a:ext cx="9779183" cy="3436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3" name="Google Shape;163;p21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idx="12" type="sldNum"/>
          </p:nvPr>
        </p:nvSpPr>
        <p:spPr>
          <a:xfrm>
            <a:off x="10206318" y="6356350"/>
            <a:ext cx="16046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0" y="0"/>
            <a:ext cx="8025490" cy="6858000"/>
          </a:xfrm>
          <a:custGeom>
            <a:rect b="b" l="l" r="r" t="t"/>
            <a:pathLst>
              <a:path extrusionOk="0" h="6858000" w="802549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2"/>
          <p:cNvSpPr txBox="1"/>
          <p:nvPr>
            <p:ph type="ctrTitle"/>
          </p:nvPr>
        </p:nvSpPr>
        <p:spPr>
          <a:xfrm>
            <a:off x="1167494" y="1059400"/>
            <a:ext cx="6245912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2"/>
          <p:cNvSpPr txBox="1"/>
          <p:nvPr>
            <p:ph idx="1" type="subTitle"/>
          </p:nvPr>
        </p:nvSpPr>
        <p:spPr>
          <a:xfrm>
            <a:off x="1167494" y="3539075"/>
            <a:ext cx="6245912" cy="140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170" name="Google Shape;170;p22"/>
          <p:cNvGrpSpPr/>
          <p:nvPr/>
        </p:nvGrpSpPr>
        <p:grpSpPr>
          <a:xfrm rot="-54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71" name="Google Shape;171;p22"/>
            <p:cNvSpPr/>
            <p:nvPr/>
          </p:nvSpPr>
          <p:spPr>
            <a:xfrm rot="-5400000">
              <a:off x="10667433" y="370908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2"/>
            <p:cNvSpPr/>
            <p:nvPr/>
          </p:nvSpPr>
          <p:spPr>
            <a:xfrm flipH="1" rot="5400000">
              <a:off x="9499940" y="370908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p22"/>
          <p:cNvSpPr/>
          <p:nvPr/>
        </p:nvSpPr>
        <p:spPr>
          <a:xfrm flipH="1">
            <a:off x="8580896" y="1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/>
          <p:nvPr/>
        </p:nvSpPr>
        <p:spPr>
          <a:xfrm flipH="1">
            <a:off x="8580896" y="3246896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">
  <p:cSld name="Graph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type="title"/>
          </p:nvPr>
        </p:nvSpPr>
        <p:spPr>
          <a:xfrm>
            <a:off x="1167492" y="381000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idx="1" type="body"/>
          </p:nvPr>
        </p:nvSpPr>
        <p:spPr>
          <a:xfrm>
            <a:off x="1167493" y="2087561"/>
            <a:ext cx="9779182" cy="3366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23"/>
          <p:cNvSpPr/>
          <p:nvPr/>
        </p:nvSpPr>
        <p:spPr>
          <a:xfrm flipH="1">
            <a:off x="8580896" y="1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3"/>
          <p:cNvSpPr/>
          <p:nvPr/>
        </p:nvSpPr>
        <p:spPr>
          <a:xfrm flipH="1" rot="5400000">
            <a:off x="1" y="3246896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3"/>
          <p:cNvSpPr txBox="1"/>
          <p:nvPr>
            <p:ph idx="10" type="dt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Chart 2">
    <p:bg>
      <p:bgPr>
        <a:solidFill>
          <a:schemeClr val="accent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24"/>
          <p:cNvGrpSpPr/>
          <p:nvPr/>
        </p:nvGrpSpPr>
        <p:grpSpPr>
          <a:xfrm rot="-54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85" name="Google Shape;185;p24"/>
            <p:cNvSpPr/>
            <p:nvPr/>
          </p:nvSpPr>
          <p:spPr>
            <a:xfrm rot="-5400000">
              <a:off x="8223822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4"/>
            <p:cNvSpPr/>
            <p:nvPr/>
          </p:nvSpPr>
          <p:spPr>
            <a:xfrm flipH="1" rot="5400000">
              <a:off x="7056329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4"/>
          <p:cNvSpPr txBox="1"/>
          <p:nvPr>
            <p:ph type="title"/>
          </p:nvPr>
        </p:nvSpPr>
        <p:spPr>
          <a:xfrm>
            <a:off x="1167492" y="381000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1" type="body"/>
          </p:nvPr>
        </p:nvSpPr>
        <p:spPr>
          <a:xfrm>
            <a:off x="1167493" y="2087563"/>
            <a:ext cx="9779182" cy="3366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10" type="dt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4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/>
          <p:nvPr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5"/>
          <p:cNvSpPr txBox="1"/>
          <p:nvPr>
            <p:ph type="title"/>
          </p:nvPr>
        </p:nvSpPr>
        <p:spPr>
          <a:xfrm>
            <a:off x="750430" y="381000"/>
            <a:ext cx="840162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/>
          <p:nvPr>
            <p:ph idx="2" type="pic"/>
          </p:nvPr>
        </p:nvSpPr>
        <p:spPr>
          <a:xfrm>
            <a:off x="750429" y="2227758"/>
            <a:ext cx="1200374" cy="1201242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2123351" y="2426400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25"/>
          <p:cNvSpPr txBox="1"/>
          <p:nvPr>
            <p:ph idx="3" type="body"/>
          </p:nvPr>
        </p:nvSpPr>
        <p:spPr>
          <a:xfrm>
            <a:off x="2123350" y="2811646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25"/>
          <p:cNvSpPr/>
          <p:nvPr>
            <p:ph idx="4" type="pic"/>
          </p:nvPr>
        </p:nvSpPr>
        <p:spPr>
          <a:xfrm>
            <a:off x="5495813" y="2227758"/>
            <a:ext cx="1200374" cy="1201242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25"/>
          <p:cNvSpPr txBox="1"/>
          <p:nvPr>
            <p:ph idx="5" type="body"/>
          </p:nvPr>
        </p:nvSpPr>
        <p:spPr>
          <a:xfrm>
            <a:off x="6870817" y="2422565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25"/>
          <p:cNvSpPr txBox="1"/>
          <p:nvPr>
            <p:ph idx="6" type="body"/>
          </p:nvPr>
        </p:nvSpPr>
        <p:spPr>
          <a:xfrm>
            <a:off x="6870816" y="2807811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25"/>
          <p:cNvSpPr/>
          <p:nvPr>
            <p:ph idx="7" type="pic"/>
          </p:nvPr>
        </p:nvSpPr>
        <p:spPr>
          <a:xfrm>
            <a:off x="750429" y="4254273"/>
            <a:ext cx="1200374" cy="1201242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25"/>
          <p:cNvSpPr txBox="1"/>
          <p:nvPr>
            <p:ph idx="8" type="body"/>
          </p:nvPr>
        </p:nvSpPr>
        <p:spPr>
          <a:xfrm>
            <a:off x="2123351" y="4498793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25"/>
          <p:cNvSpPr txBox="1"/>
          <p:nvPr>
            <p:ph idx="9" type="body"/>
          </p:nvPr>
        </p:nvSpPr>
        <p:spPr>
          <a:xfrm>
            <a:off x="2123350" y="4884039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25"/>
          <p:cNvSpPr/>
          <p:nvPr>
            <p:ph idx="13" type="pic"/>
          </p:nvPr>
        </p:nvSpPr>
        <p:spPr>
          <a:xfrm>
            <a:off x="5495813" y="4254273"/>
            <a:ext cx="1200374" cy="1201242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25"/>
          <p:cNvSpPr txBox="1"/>
          <p:nvPr>
            <p:ph idx="14" type="body"/>
          </p:nvPr>
        </p:nvSpPr>
        <p:spPr>
          <a:xfrm>
            <a:off x="6870817" y="4498793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25"/>
          <p:cNvSpPr txBox="1"/>
          <p:nvPr>
            <p:ph idx="15" type="body"/>
          </p:nvPr>
        </p:nvSpPr>
        <p:spPr>
          <a:xfrm>
            <a:off x="6870816" y="4884039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25"/>
          <p:cNvSpPr txBox="1"/>
          <p:nvPr>
            <p:ph idx="10" type="dt"/>
          </p:nvPr>
        </p:nvSpPr>
        <p:spPr>
          <a:xfrm>
            <a:off x="381000" y="6356350"/>
            <a:ext cx="15698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5"/>
          <p:cNvSpPr txBox="1"/>
          <p:nvPr>
            <p:ph idx="11" type="ftr"/>
          </p:nvPr>
        </p:nvSpPr>
        <p:spPr>
          <a:xfrm>
            <a:off x="287110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5"/>
          <p:cNvSpPr txBox="1"/>
          <p:nvPr>
            <p:ph idx="12" type="sldNum"/>
          </p:nvPr>
        </p:nvSpPr>
        <p:spPr>
          <a:xfrm>
            <a:off x="8332334" y="6356350"/>
            <a:ext cx="11674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25"/>
          <p:cNvSpPr/>
          <p:nvPr/>
        </p:nvSpPr>
        <p:spPr>
          <a:xfrm flipH="1" rot="5400000">
            <a:off x="9499940" y="355410"/>
            <a:ext cx="1881641" cy="1167493"/>
          </a:xfrm>
          <a:custGeom>
            <a:rect b="b" l="l" r="r" t="t"/>
            <a:pathLst>
              <a:path extrusionOk="0" h="1167493" w="1881641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5"/>
          <p:cNvSpPr/>
          <p:nvPr/>
        </p:nvSpPr>
        <p:spPr>
          <a:xfrm flipH="1">
            <a:off x="10866436" y="1879977"/>
            <a:ext cx="1325563" cy="1325563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11024507" y="-1664"/>
            <a:ext cx="1167494" cy="1881641"/>
          </a:xfrm>
          <a:custGeom>
            <a:rect b="b" l="l" r="r" t="t"/>
            <a:pathLst>
              <a:path extrusionOk="0" h="1881641" w="1167494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5"/>
          <p:cNvSpPr/>
          <p:nvPr/>
        </p:nvSpPr>
        <p:spPr>
          <a:xfrm flipH="1" rot="-5400000">
            <a:off x="10667432" y="5333432"/>
            <a:ext cx="1881641" cy="1167493"/>
          </a:xfrm>
          <a:custGeom>
            <a:rect b="b" l="l" r="r" t="t"/>
            <a:pathLst>
              <a:path extrusionOk="0" h="1167493" w="1881641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5"/>
          <p:cNvSpPr/>
          <p:nvPr/>
        </p:nvSpPr>
        <p:spPr>
          <a:xfrm flipH="1" rot="10800000">
            <a:off x="9857012" y="3651505"/>
            <a:ext cx="1325563" cy="1325563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5"/>
          <p:cNvSpPr/>
          <p:nvPr/>
        </p:nvSpPr>
        <p:spPr>
          <a:xfrm rot="10800000">
            <a:off x="9857013" y="4976359"/>
            <a:ext cx="1167494" cy="1881641"/>
          </a:xfrm>
          <a:custGeom>
            <a:rect b="b" l="l" r="r" t="t"/>
            <a:pathLst>
              <a:path extrusionOk="0" h="1881641" w="1167494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ole team">
  <p:cSld name="Whole team">
    <p:bg>
      <p:bgPr>
        <a:solidFill>
          <a:schemeClr val="accent2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750430" y="381000"/>
            <a:ext cx="1067814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6"/>
          <p:cNvSpPr/>
          <p:nvPr>
            <p:ph idx="2" type="pic"/>
          </p:nvPr>
        </p:nvSpPr>
        <p:spPr>
          <a:xfrm>
            <a:off x="750429" y="2068734"/>
            <a:ext cx="904987" cy="905641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26"/>
          <p:cNvSpPr txBox="1"/>
          <p:nvPr>
            <p:ph idx="1" type="body"/>
          </p:nvPr>
        </p:nvSpPr>
        <p:spPr>
          <a:xfrm>
            <a:off x="750430" y="2994545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6"/>
          <p:cNvSpPr txBox="1"/>
          <p:nvPr>
            <p:ph idx="3" type="body"/>
          </p:nvPr>
        </p:nvSpPr>
        <p:spPr>
          <a:xfrm>
            <a:off x="750429" y="3379791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26"/>
          <p:cNvSpPr/>
          <p:nvPr>
            <p:ph idx="4" type="pic"/>
          </p:nvPr>
        </p:nvSpPr>
        <p:spPr>
          <a:xfrm>
            <a:off x="3549397" y="2068734"/>
            <a:ext cx="904987" cy="905641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6"/>
          <p:cNvSpPr txBox="1"/>
          <p:nvPr>
            <p:ph idx="5" type="body"/>
          </p:nvPr>
        </p:nvSpPr>
        <p:spPr>
          <a:xfrm>
            <a:off x="3549398" y="2994545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idx="6" type="body"/>
          </p:nvPr>
        </p:nvSpPr>
        <p:spPr>
          <a:xfrm>
            <a:off x="3549397" y="3379791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26"/>
          <p:cNvSpPr/>
          <p:nvPr>
            <p:ph idx="7" type="pic"/>
          </p:nvPr>
        </p:nvSpPr>
        <p:spPr>
          <a:xfrm>
            <a:off x="6348367" y="2068734"/>
            <a:ext cx="904987" cy="905641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26"/>
          <p:cNvSpPr txBox="1"/>
          <p:nvPr>
            <p:ph idx="8" type="body"/>
          </p:nvPr>
        </p:nvSpPr>
        <p:spPr>
          <a:xfrm>
            <a:off x="6348368" y="2994545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6"/>
          <p:cNvSpPr txBox="1"/>
          <p:nvPr>
            <p:ph idx="9" type="body"/>
          </p:nvPr>
        </p:nvSpPr>
        <p:spPr>
          <a:xfrm>
            <a:off x="6348367" y="3379791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26"/>
          <p:cNvSpPr/>
          <p:nvPr>
            <p:ph idx="13" type="pic"/>
          </p:nvPr>
        </p:nvSpPr>
        <p:spPr>
          <a:xfrm>
            <a:off x="9147335" y="2068734"/>
            <a:ext cx="904987" cy="905641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6"/>
          <p:cNvSpPr txBox="1"/>
          <p:nvPr>
            <p:ph idx="14" type="body"/>
          </p:nvPr>
        </p:nvSpPr>
        <p:spPr>
          <a:xfrm>
            <a:off x="9147336" y="2994545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26"/>
          <p:cNvSpPr txBox="1"/>
          <p:nvPr>
            <p:ph idx="15" type="body"/>
          </p:nvPr>
        </p:nvSpPr>
        <p:spPr>
          <a:xfrm>
            <a:off x="9147335" y="3379791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26"/>
          <p:cNvSpPr/>
          <p:nvPr>
            <p:ph idx="16" type="pic"/>
          </p:nvPr>
        </p:nvSpPr>
        <p:spPr>
          <a:xfrm>
            <a:off x="750429" y="4118551"/>
            <a:ext cx="904987" cy="905641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6"/>
          <p:cNvSpPr txBox="1"/>
          <p:nvPr>
            <p:ph idx="17" type="body"/>
          </p:nvPr>
        </p:nvSpPr>
        <p:spPr>
          <a:xfrm>
            <a:off x="750430" y="5044362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26"/>
          <p:cNvSpPr txBox="1"/>
          <p:nvPr>
            <p:ph idx="18" type="body"/>
          </p:nvPr>
        </p:nvSpPr>
        <p:spPr>
          <a:xfrm>
            <a:off x="750429" y="5429608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p26"/>
          <p:cNvSpPr/>
          <p:nvPr>
            <p:ph idx="19" type="pic"/>
          </p:nvPr>
        </p:nvSpPr>
        <p:spPr>
          <a:xfrm>
            <a:off x="3549397" y="4118551"/>
            <a:ext cx="904987" cy="905641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6"/>
          <p:cNvSpPr txBox="1"/>
          <p:nvPr>
            <p:ph idx="20" type="body"/>
          </p:nvPr>
        </p:nvSpPr>
        <p:spPr>
          <a:xfrm>
            <a:off x="3549398" y="5044362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26"/>
          <p:cNvSpPr txBox="1"/>
          <p:nvPr>
            <p:ph idx="21" type="body"/>
          </p:nvPr>
        </p:nvSpPr>
        <p:spPr>
          <a:xfrm>
            <a:off x="3549397" y="5429608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7" name="Google Shape;237;p26"/>
          <p:cNvSpPr/>
          <p:nvPr>
            <p:ph idx="22" type="pic"/>
          </p:nvPr>
        </p:nvSpPr>
        <p:spPr>
          <a:xfrm>
            <a:off x="6348367" y="4118551"/>
            <a:ext cx="904987" cy="905641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6"/>
          <p:cNvSpPr txBox="1"/>
          <p:nvPr>
            <p:ph idx="23" type="body"/>
          </p:nvPr>
        </p:nvSpPr>
        <p:spPr>
          <a:xfrm>
            <a:off x="6348368" y="5044362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26"/>
          <p:cNvSpPr txBox="1"/>
          <p:nvPr>
            <p:ph idx="24" type="body"/>
          </p:nvPr>
        </p:nvSpPr>
        <p:spPr>
          <a:xfrm>
            <a:off x="6348367" y="5429608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" name="Google Shape;240;p26"/>
          <p:cNvSpPr/>
          <p:nvPr>
            <p:ph idx="25" type="pic"/>
          </p:nvPr>
        </p:nvSpPr>
        <p:spPr>
          <a:xfrm>
            <a:off x="9147335" y="4118551"/>
            <a:ext cx="904987" cy="905641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6"/>
          <p:cNvSpPr txBox="1"/>
          <p:nvPr>
            <p:ph idx="26" type="body"/>
          </p:nvPr>
        </p:nvSpPr>
        <p:spPr>
          <a:xfrm>
            <a:off x="9147336" y="5044362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idx="27" type="body"/>
          </p:nvPr>
        </p:nvSpPr>
        <p:spPr>
          <a:xfrm>
            <a:off x="9147335" y="5429608"/>
            <a:ext cx="2281237" cy="347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26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6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Timeline">
    <p:bg>
      <p:bgPr>
        <a:solidFill>
          <a:schemeClr val="accen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/>
          <p:nvPr/>
        </p:nvSpPr>
        <p:spPr>
          <a:xfrm flipH="1">
            <a:off x="8580896" y="1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7"/>
          <p:cNvSpPr/>
          <p:nvPr/>
        </p:nvSpPr>
        <p:spPr>
          <a:xfrm flipH="1" rot="5400000">
            <a:off x="1" y="3246896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7"/>
          <p:cNvSpPr txBox="1"/>
          <p:nvPr>
            <p:ph type="title"/>
          </p:nvPr>
        </p:nvSpPr>
        <p:spPr>
          <a:xfrm>
            <a:off x="1167492" y="381000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idx="1" type="body"/>
          </p:nvPr>
        </p:nvSpPr>
        <p:spPr>
          <a:xfrm>
            <a:off x="1167493" y="2087561"/>
            <a:ext cx="9779182" cy="33668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27"/>
          <p:cNvSpPr txBox="1"/>
          <p:nvPr>
            <p:ph idx="10" type="dt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7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itle and Content">
  <p:cSld name="2 Title and Conten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"/>
          <p:cNvSpPr txBox="1"/>
          <p:nvPr>
            <p:ph type="title"/>
          </p:nvPr>
        </p:nvSpPr>
        <p:spPr>
          <a:xfrm>
            <a:off x="1167492" y="381000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8"/>
          <p:cNvSpPr txBox="1"/>
          <p:nvPr>
            <p:ph idx="1" type="body"/>
          </p:nvPr>
        </p:nvSpPr>
        <p:spPr>
          <a:xfrm>
            <a:off x="1167493" y="2528203"/>
            <a:ext cx="4663440" cy="28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28"/>
          <p:cNvSpPr/>
          <p:nvPr/>
        </p:nvSpPr>
        <p:spPr>
          <a:xfrm flipH="1">
            <a:off x="8580896" y="1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8"/>
          <p:cNvSpPr/>
          <p:nvPr/>
        </p:nvSpPr>
        <p:spPr>
          <a:xfrm flipH="1">
            <a:off x="8580896" y="3246896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1" y="0"/>
            <a:ext cx="933856" cy="933856"/>
          </a:xfrm>
          <a:custGeom>
            <a:rect b="b" l="l" r="r" t="t"/>
            <a:pathLst>
              <a:path extrusionOk="0" h="862693" w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28"/>
          <p:cNvGrpSpPr/>
          <p:nvPr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261" name="Google Shape;261;p28"/>
            <p:cNvSpPr/>
            <p:nvPr/>
          </p:nvSpPr>
          <p:spPr>
            <a:xfrm rot="-5400000">
              <a:off x="8223822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8"/>
            <p:cNvSpPr/>
            <p:nvPr/>
          </p:nvSpPr>
          <p:spPr>
            <a:xfrm flipH="1" rot="5400000">
              <a:off x="7056329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" name="Google Shape;263;p28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8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28"/>
          <p:cNvSpPr txBox="1"/>
          <p:nvPr>
            <p:ph idx="2" type="body"/>
          </p:nvPr>
        </p:nvSpPr>
        <p:spPr>
          <a:xfrm>
            <a:off x="6283235" y="2528203"/>
            <a:ext cx="4663440" cy="28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3" type="body"/>
          </p:nvPr>
        </p:nvSpPr>
        <p:spPr>
          <a:xfrm>
            <a:off x="1167493" y="2005689"/>
            <a:ext cx="4663440" cy="522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idx="4" type="body"/>
          </p:nvPr>
        </p:nvSpPr>
        <p:spPr>
          <a:xfrm>
            <a:off x="6283235" y="2005689"/>
            <a:ext cx="4663440" cy="522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itle and Content">
  <p:cSld name="3 Title and Conten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1167492" y="381000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9"/>
          <p:cNvSpPr txBox="1"/>
          <p:nvPr>
            <p:ph idx="1" type="body"/>
          </p:nvPr>
        </p:nvSpPr>
        <p:spPr>
          <a:xfrm>
            <a:off x="1167491" y="2526318"/>
            <a:ext cx="3218688" cy="28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p29"/>
          <p:cNvSpPr/>
          <p:nvPr/>
        </p:nvSpPr>
        <p:spPr>
          <a:xfrm rot="5400000">
            <a:off x="8580896" y="0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9"/>
          <p:cNvSpPr/>
          <p:nvPr/>
        </p:nvSpPr>
        <p:spPr>
          <a:xfrm>
            <a:off x="-2364" y="3246896"/>
            <a:ext cx="3611104" cy="3611104"/>
          </a:xfrm>
          <a:custGeom>
            <a:rect b="b" l="l" r="r" t="t"/>
            <a:pathLst>
              <a:path extrusionOk="0" h="1167493" w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9"/>
          <p:cNvSpPr/>
          <p:nvPr/>
        </p:nvSpPr>
        <p:spPr>
          <a:xfrm flipH="1" rot="5400000">
            <a:off x="11258144" y="5924144"/>
            <a:ext cx="933856" cy="933856"/>
          </a:xfrm>
          <a:custGeom>
            <a:rect b="b" l="l" r="r" t="t"/>
            <a:pathLst>
              <a:path extrusionOk="0" h="862693" w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276" name="Google Shape;276;p29"/>
            <p:cNvSpPr/>
            <p:nvPr/>
          </p:nvSpPr>
          <p:spPr>
            <a:xfrm rot="-5400000">
              <a:off x="8223822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9"/>
            <p:cNvSpPr/>
            <p:nvPr/>
          </p:nvSpPr>
          <p:spPr>
            <a:xfrm flipH="1" rot="5400000">
              <a:off x="7056329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" name="Google Shape;278;p29"/>
          <p:cNvSpPr txBox="1"/>
          <p:nvPr>
            <p:ph idx="10" type="dt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body"/>
          </p:nvPr>
        </p:nvSpPr>
        <p:spPr>
          <a:xfrm>
            <a:off x="4683787" y="2526318"/>
            <a:ext cx="3173279" cy="28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idx="3" type="body"/>
          </p:nvPr>
        </p:nvSpPr>
        <p:spPr>
          <a:xfrm>
            <a:off x="1167493" y="2003804"/>
            <a:ext cx="3173278" cy="522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2" name="Google Shape;282;p29"/>
          <p:cNvSpPr txBox="1"/>
          <p:nvPr>
            <p:ph idx="4" type="body"/>
          </p:nvPr>
        </p:nvSpPr>
        <p:spPr>
          <a:xfrm>
            <a:off x="4683788" y="2003804"/>
            <a:ext cx="3173278" cy="522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3" name="Google Shape;283;p29"/>
          <p:cNvSpPr txBox="1"/>
          <p:nvPr>
            <p:ph idx="5" type="body"/>
          </p:nvPr>
        </p:nvSpPr>
        <p:spPr>
          <a:xfrm>
            <a:off x="8200082" y="2526318"/>
            <a:ext cx="3173279" cy="28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" name="Google Shape;284;p29"/>
          <p:cNvSpPr txBox="1"/>
          <p:nvPr>
            <p:ph idx="6" type="body"/>
          </p:nvPr>
        </p:nvSpPr>
        <p:spPr>
          <a:xfrm>
            <a:off x="8200083" y="2003804"/>
            <a:ext cx="3173278" cy="522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" name="Google Shape;285;p29"/>
          <p:cNvSpPr txBox="1"/>
          <p:nvPr>
            <p:ph idx="12" type="sldNum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End Slide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0"/>
          <p:cNvSpPr txBox="1"/>
          <p:nvPr>
            <p:ph type="ctrTitle"/>
          </p:nvPr>
        </p:nvSpPr>
        <p:spPr>
          <a:xfrm>
            <a:off x="1167494" y="1122363"/>
            <a:ext cx="622027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0"/>
          <p:cNvSpPr txBox="1"/>
          <p:nvPr>
            <p:ph idx="1" type="subTitle"/>
          </p:nvPr>
        </p:nvSpPr>
        <p:spPr>
          <a:xfrm>
            <a:off x="1167493" y="3602038"/>
            <a:ext cx="6220277" cy="2247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9" name="Google Shape;289;p30"/>
          <p:cNvSpPr/>
          <p:nvPr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30"/>
          <p:cNvGrpSpPr/>
          <p:nvPr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291" name="Google Shape;291;p30"/>
            <p:cNvSpPr/>
            <p:nvPr/>
          </p:nvSpPr>
          <p:spPr>
            <a:xfrm rot="-5400000">
              <a:off x="10667433" y="370908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 flipH="1" rot="5400000">
              <a:off x="9499940" y="370908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3" name="Google Shape;293;p30"/>
          <p:cNvSpPr/>
          <p:nvPr/>
        </p:nvSpPr>
        <p:spPr>
          <a:xfrm>
            <a:off x="0" y="-1"/>
            <a:ext cx="1167493" cy="1167493"/>
          </a:xfrm>
          <a:custGeom>
            <a:rect b="b" l="l" r="r" t="t"/>
            <a:pathLst>
              <a:path extrusionOk="0" h="862693" w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/>
          <p:nvPr/>
        </p:nvSpPr>
        <p:spPr>
          <a:xfrm>
            <a:off x="10228214" y="-1"/>
            <a:ext cx="1963787" cy="3178856"/>
          </a:xfrm>
          <a:custGeom>
            <a:rect b="b" l="l" r="r" t="t"/>
            <a:pathLst>
              <a:path extrusionOk="0" h="3178856" w="1963787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984">
          <p15:clr>
            <a:srgbClr val="F26B43"/>
          </p15:clr>
        </p15:guide>
        <p15:guide id="2" pos="336">
          <p15:clr>
            <a:srgbClr val="F26B43"/>
          </p15:clr>
        </p15:guide>
        <p15:guide id="3" pos="7320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orient="horz" pos="264">
          <p15:clr>
            <a:srgbClr val="F26B43"/>
          </p15:clr>
        </p15:guide>
        <p15:guide id="6" orient="horz" pos="696">
          <p15:clr>
            <a:srgbClr val="F26B43"/>
          </p15:clr>
        </p15:guide>
        <p15:guide id="7" pos="36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17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/>
          <p:nvPr/>
        </p:nvSpPr>
        <p:spPr>
          <a:xfrm>
            <a:off x="1515648" y="2273828"/>
            <a:ext cx="9144001" cy="1938992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EF4E24"/>
                </a:solidFill>
                <a:latin typeface="Baumans"/>
                <a:ea typeface="Baumans"/>
                <a:cs typeface="Baumans"/>
                <a:sym typeface="Baumans"/>
              </a:rPr>
              <a:t>Introduction to RStudio Environment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Limelight"/>
                <a:ea typeface="Limelight"/>
                <a:cs typeface="Limelight"/>
                <a:sym typeface="Limelight"/>
              </a:rPr>
              <a:t>Basic Features</a:t>
            </a:r>
            <a:endParaRPr b="0" i="0" sz="4000" u="none" cap="none" strike="noStrike">
              <a:solidFill>
                <a:schemeClr val="lt1"/>
              </a:solidFill>
              <a:latin typeface="Limelight"/>
              <a:ea typeface="Limelight"/>
              <a:cs typeface="Limelight"/>
              <a:sym typeface="Limeligh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Nosifer"/>
              <a:ea typeface="Nosifer"/>
              <a:cs typeface="Nosifer"/>
              <a:sym typeface="Nosifer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4214404" y="4244964"/>
            <a:ext cx="376318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 2</a:t>
            </a:r>
            <a:r>
              <a:rPr b="1" lang="en-US" sz="2400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r>
              <a:rPr b="1" i="0" lang="en-US" sz="2400" u="none" cap="none" strike="noStrike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, 2023</a:t>
            </a:r>
            <a:endParaRPr b="1" i="0" sz="2400" u="none" cap="none" strike="noStrike">
              <a:solidFill>
                <a:schemeClr val="accent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6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Assosa, Ethiopia</a:t>
            </a:r>
            <a:endParaRPr/>
          </a:p>
        </p:txBody>
      </p:sp>
      <p:sp>
        <p:nvSpPr>
          <p:cNvPr id="301" name="Google Shape;301;p31"/>
          <p:cNvSpPr/>
          <p:nvPr/>
        </p:nvSpPr>
        <p:spPr>
          <a:xfrm>
            <a:off x="1954059" y="3535712"/>
            <a:ext cx="823246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0066"/>
                </a:solidFill>
                <a:latin typeface="Baumans"/>
                <a:ea typeface="Baumans"/>
                <a:cs typeface="Baumans"/>
                <a:sym typeface="Baumans"/>
              </a:rPr>
              <a:t>Compiled by Haymanot Berelie</a:t>
            </a:r>
            <a:endParaRPr/>
          </a:p>
        </p:txBody>
      </p:sp>
      <p:pic>
        <p:nvPicPr>
          <p:cNvPr id="302" name="Google Shape;3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25" y="98425"/>
            <a:ext cx="546100" cy="43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9390" y="318294"/>
            <a:ext cx="1589809" cy="136120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 txBox="1"/>
          <p:nvPr>
            <p:ph idx="10" type="dt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piece of paper with a pencil laying on top" id="309" name="Google Shape;30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35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2"/>
          <p:cNvSpPr/>
          <p:nvPr/>
        </p:nvSpPr>
        <p:spPr>
          <a:xfrm>
            <a:off x="3116689" y="999947"/>
            <a:ext cx="8526968" cy="911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EF4E24"/>
                </a:solidFill>
                <a:latin typeface="Baumans"/>
                <a:ea typeface="Baumans"/>
                <a:cs typeface="Baumans"/>
                <a:sym typeface="Baumans"/>
              </a:rPr>
              <a:t>OVERVIEW OF RSTUDIO</a:t>
            </a:r>
            <a:endParaRPr/>
          </a:p>
        </p:txBody>
      </p:sp>
      <p:sp>
        <p:nvSpPr>
          <p:cNvPr id="311" name="Google Shape;311;p32"/>
          <p:cNvSpPr txBox="1"/>
          <p:nvPr/>
        </p:nvSpPr>
        <p:spPr>
          <a:xfrm>
            <a:off x="4525351" y="2012071"/>
            <a:ext cx="78310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0066"/>
                </a:solidFill>
                <a:latin typeface="Arial"/>
                <a:ea typeface="Arial"/>
                <a:cs typeface="Arial"/>
                <a:sym typeface="Arial"/>
              </a:rPr>
              <a:t>Why Rstudio?</a:t>
            </a:r>
            <a:endParaRPr/>
          </a:p>
        </p:txBody>
      </p:sp>
      <p:pic>
        <p:nvPicPr>
          <p:cNvPr id="312" name="Google Shape;31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3847" y="1654631"/>
            <a:ext cx="1589809" cy="13612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2"/>
          <p:cNvSpPr txBox="1"/>
          <p:nvPr>
            <p:ph idx="10" type="dt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"/>
          <p:cNvSpPr txBox="1"/>
          <p:nvPr/>
        </p:nvSpPr>
        <p:spPr>
          <a:xfrm>
            <a:off x="726645" y="2051991"/>
            <a:ext cx="9047550" cy="7187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 Math"/>
              <a:buChar char="⟾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RStudio is a powerful and productive user interface for R or Integrated Development Environment (IDE) for R and makes using R easier.</a:t>
            </a:r>
            <a:endParaRPr/>
          </a:p>
          <a:p>
            <a:pPr indent="-342900" lvl="0" marL="34290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 Math"/>
              <a:buChar char="⟾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Organize your code, output, and plots.</a:t>
            </a:r>
            <a:endParaRPr/>
          </a:p>
          <a:p>
            <a:pPr indent="-342900" lvl="0" marL="34290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 Math"/>
              <a:buChar char="⟾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Auto-complete code and highlight syntax.</a:t>
            </a:r>
            <a:endParaRPr/>
          </a:p>
          <a:p>
            <a:pPr indent="-342900" lvl="0" marL="34290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 Math"/>
              <a:buChar char="⟾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view data and objects.</a:t>
            </a:r>
            <a:endParaRPr/>
          </a:p>
          <a:p>
            <a:pPr indent="-342900" lvl="0" marL="34290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 Math"/>
              <a:buChar char="⟾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easy integration of R code into documents.</a:t>
            </a:r>
            <a:endParaRPr/>
          </a:p>
          <a:p>
            <a:pPr indent="-342900" lvl="0" marL="34290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 Math"/>
              <a:buChar char="⟾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User-friendly interfaces.</a:t>
            </a:r>
            <a:endParaRPr/>
          </a:p>
          <a:p>
            <a:pPr indent="-342900" lvl="0" marL="34290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⟾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source, but paid option as well (not worth it for typical users)</a:t>
            </a:r>
            <a:endParaRPr/>
          </a:p>
          <a:p>
            <a:pPr indent="-342900" lvl="0" marL="34290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⟾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install process</a:t>
            </a:r>
            <a:endParaRPr/>
          </a:p>
          <a:p>
            <a:pPr indent="0" lvl="0" marL="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 Math"/>
              <a:buNone/>
            </a:pPr>
            <a:r>
              <a:t/>
            </a:r>
            <a:endParaRPr sz="22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 Math"/>
              <a:buNone/>
            </a:pPr>
            <a:r>
              <a:t/>
            </a:r>
            <a:endParaRPr sz="22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 Math"/>
              <a:buNone/>
            </a:pPr>
            <a:r>
              <a:t/>
            </a:r>
            <a:endParaRPr sz="22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342900" marR="0" rtl="0" algn="just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mbria Math"/>
              <a:buNone/>
            </a:pPr>
            <a:r>
              <a:t/>
            </a:r>
            <a:endParaRPr sz="22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3"/>
          <p:cNvSpPr txBox="1"/>
          <p:nvPr/>
        </p:nvSpPr>
        <p:spPr>
          <a:xfrm>
            <a:off x="3268458" y="1065289"/>
            <a:ext cx="51074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0066"/>
                </a:solidFill>
                <a:latin typeface="Baumans"/>
                <a:ea typeface="Baumans"/>
                <a:cs typeface="Baumans"/>
                <a:sym typeface="Baumans"/>
              </a:rPr>
              <a:t>Introduction to RStudio</a:t>
            </a:r>
            <a:endParaRPr/>
          </a:p>
        </p:txBody>
      </p:sp>
      <p:pic>
        <p:nvPicPr>
          <p:cNvPr id="320" name="Google Shape;32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795" y="371240"/>
            <a:ext cx="1589809" cy="136120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aumans"/>
              <a:buNone/>
            </a:pPr>
            <a:r>
              <a:rPr lang="en-US">
                <a:latin typeface="Baumans"/>
                <a:ea typeface="Baumans"/>
                <a:cs typeface="Baumans"/>
                <a:sym typeface="Baumans"/>
              </a:rPr>
              <a:t>Benefits of RStudio</a:t>
            </a:r>
            <a:endParaRPr/>
          </a:p>
        </p:txBody>
      </p:sp>
      <p:sp>
        <p:nvSpPr>
          <p:cNvPr id="327" name="Google Shape;327;p34"/>
          <p:cNvSpPr txBox="1"/>
          <p:nvPr>
            <p:ph idx="1" type="body"/>
          </p:nvPr>
        </p:nvSpPr>
        <p:spPr>
          <a:xfrm>
            <a:off x="1052186" y="1878804"/>
            <a:ext cx="9920613" cy="4050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1" marL="8001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⟹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transition from Stata to R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⟹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window views at once – Results, Code, Working Environment, and Graphs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⟹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something on your computer crashes while you’re working, R will have your code waiting for you when you re-open RStudio.</a:t>
            </a:r>
            <a:endParaRPr/>
          </a:p>
          <a:p>
            <a:pPr indent="-342900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⟹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 suggesting  the function And re-type everything all over again when a mistake make in typing code into the console.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328" name="Google Shape;328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pic>
        <p:nvPicPr>
          <p:cNvPr id="329" name="Google Shape;32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795" y="371240"/>
            <a:ext cx="1589809" cy="136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aumans"/>
              <a:buNone/>
            </a:pPr>
            <a:r>
              <a:rPr lang="en-US">
                <a:latin typeface="Baumans"/>
                <a:ea typeface="Baumans"/>
                <a:cs typeface="Baumans"/>
                <a:sym typeface="Baumans"/>
              </a:rPr>
              <a:t>Getting started with RStudio</a:t>
            </a:r>
            <a:endParaRPr/>
          </a:p>
        </p:txBody>
      </p:sp>
      <p:sp>
        <p:nvSpPr>
          <p:cNvPr id="335" name="Google Shape;335;p35"/>
          <p:cNvSpPr txBox="1"/>
          <p:nvPr>
            <p:ph idx="1" type="body"/>
          </p:nvPr>
        </p:nvSpPr>
        <p:spPr>
          <a:xfrm>
            <a:off x="1352811" y="2004063"/>
            <a:ext cx="9369468" cy="3808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⟹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you have installed RStudio, there will be an icon on your desktop.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⟹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Double click it and RStudio will start up.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⟹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the R system, the main window (RGui) with a sub window (R Console)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appear. In the `Console' window the cursor is waiting for you to type in some R commands.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⟹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does have a few pull-down menus,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</a:pPr>
            <a:r>
              <a:t/>
            </a:r>
            <a:endParaRPr sz="20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Cambria Math"/>
              <a:buNone/>
            </a:pPr>
            <a:r>
              <a:t/>
            </a:r>
            <a:endParaRPr sz="20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Cambria Math"/>
              <a:buNone/>
            </a:pPr>
            <a:r>
              <a:t/>
            </a:r>
            <a:endParaRPr sz="20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336" name="Google Shape;336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pic>
        <p:nvPicPr>
          <p:cNvPr id="337" name="Google Shape;3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795" y="371240"/>
            <a:ext cx="1589809" cy="136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6"/>
          <p:cNvSpPr txBox="1"/>
          <p:nvPr/>
        </p:nvSpPr>
        <p:spPr>
          <a:xfrm>
            <a:off x="2505205" y="434440"/>
            <a:ext cx="8233506" cy="539378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36"/>
          <p:cNvSpPr txBox="1"/>
          <p:nvPr/>
        </p:nvSpPr>
        <p:spPr>
          <a:xfrm>
            <a:off x="2943887" y="476801"/>
            <a:ext cx="3965276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1" i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menu bar</a:t>
            </a:r>
            <a:endParaRPr b="1" i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36"/>
          <p:cNvSpPr txBox="1"/>
          <p:nvPr/>
        </p:nvSpPr>
        <p:spPr>
          <a:xfrm>
            <a:off x="539495" y="1332335"/>
            <a:ext cx="10491361" cy="50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menu bar in RStudio contains 11 </a:t>
            </a:r>
            <a:r>
              <a:rPr b="1" lang="en-US" sz="2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pull down menus, which are:</a:t>
            </a:r>
            <a:endParaRPr b="0" sz="22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just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file menu contains options for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file, new project, opening, saving,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printing R documents, importing dataset, compile pdf,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well as the option for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exiting the session or project (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clicking on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R window or typing the command q() on the  console). 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⟹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file: open new r script, python scripts ,shell, Markdown, notebooks, html file, latex or sweave document…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⟹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project: for handling the analysis of new data and keep everything together.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 Math"/>
              <a:buChar char="⟹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Open: data, project in the new sessions, script, and other documentation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Calibri"/>
              <a:buNone/>
            </a:pPr>
            <a:r>
              <a:t/>
            </a:r>
            <a:endParaRPr b="1" sz="25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055" y="225468"/>
            <a:ext cx="1589809" cy="1106867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6"/>
          <p:cNvSpPr txBox="1"/>
          <p:nvPr>
            <p:ph idx="10" type="dt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 txBox="1"/>
          <p:nvPr>
            <p:ph type="title"/>
          </p:nvPr>
        </p:nvSpPr>
        <p:spPr>
          <a:xfrm>
            <a:off x="3348506" y="1044754"/>
            <a:ext cx="2267845" cy="5804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Cont’d..</a:t>
            </a:r>
            <a:endParaRPr sz="3200">
              <a:solidFill>
                <a:srgbClr val="2F5496"/>
              </a:solidFill>
            </a:endParaRPr>
          </a:p>
        </p:txBody>
      </p:sp>
      <p:sp>
        <p:nvSpPr>
          <p:cNvPr id="352" name="Google Shape;35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sp>
        <p:nvSpPr>
          <p:cNvPr id="353" name="Google Shape;353;p37"/>
          <p:cNvSpPr txBox="1"/>
          <p:nvPr/>
        </p:nvSpPr>
        <p:spPr>
          <a:xfrm>
            <a:off x="726644" y="1808528"/>
            <a:ext cx="10158474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⇒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saves everything; command, output and most recommended. Save history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⇒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saves commands and objects and save image # just saves the objects in the workspace 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⇒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dataset: importing external data from xx to RStudio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⇒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Workspace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History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options to open previously saved work.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edit menu contains the standard functionality of undo, redo,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cut, copy, paste, ,find and replace, check spelling, word count, Clear output and /or console. 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Code: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code menu contains options for insert chunk, jump to,  go to file/function,  show document outlines/diagnostics/diagnostic project, extract variable/function, comment/uncomment/reindent/run  lines, and source.</a:t>
            </a:r>
            <a:endParaRPr/>
          </a:p>
          <a:p>
            <a:pPr indent="0" lvl="1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795" y="371240"/>
            <a:ext cx="1589809" cy="136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/>
          <p:nvPr/>
        </p:nvSpPr>
        <p:spPr>
          <a:xfrm>
            <a:off x="1104754" y="5350136"/>
            <a:ext cx="9447132" cy="1143069"/>
          </a:xfrm>
          <a:prstGeom prst="snip1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8"/>
          <p:cNvSpPr txBox="1"/>
          <p:nvPr>
            <p:ph type="title"/>
          </p:nvPr>
        </p:nvSpPr>
        <p:spPr>
          <a:xfrm>
            <a:off x="2454491" y="897736"/>
            <a:ext cx="6937032" cy="555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rgbClr val="FF0000"/>
                </a:solidFill>
              </a:rPr>
              <a:t>Cont’d…</a:t>
            </a:r>
            <a:endParaRPr/>
          </a:p>
        </p:txBody>
      </p:sp>
      <p:sp>
        <p:nvSpPr>
          <p:cNvPr id="361" name="Google Shape;36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sp>
        <p:nvSpPr>
          <p:cNvPr id="362" name="Google Shape;362;p38"/>
          <p:cNvSpPr txBox="1"/>
          <p:nvPr/>
        </p:nvSpPr>
        <p:spPr>
          <a:xfrm>
            <a:off x="961768" y="4010859"/>
            <a:ext cx="9071917" cy="114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Plots: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plot menu contains options for show, save, and remove plots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8"/>
          <p:cNvSpPr txBox="1"/>
          <p:nvPr/>
        </p:nvSpPr>
        <p:spPr>
          <a:xfrm>
            <a:off x="961768" y="2043215"/>
            <a:ext cx="9071916" cy="2071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View:  in this drop down menu we can modify the size of panes, taps, positions … etc. The view menu contains options for </a:t>
            </a:r>
            <a:r>
              <a:rPr b="0" i="0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show/hide panes,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zoom, switch to/next/previous/first and last tabs, move focus to xx , show history/files/packages…etc.</a:t>
            </a:r>
            <a:endParaRPr/>
          </a:p>
        </p:txBody>
      </p:sp>
      <p:sp>
        <p:nvSpPr>
          <p:cNvPr id="364" name="Google Shape;364;p38"/>
          <p:cNvSpPr txBox="1"/>
          <p:nvPr/>
        </p:nvSpPr>
        <p:spPr>
          <a:xfrm>
            <a:off x="1104754" y="5290066"/>
            <a:ext cx="9071916" cy="114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6. Session: 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session menu contains options for new and quit sessions, interrupt, terminate, restart R, setwd(), load, save, and clear workspace. 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795" y="371240"/>
            <a:ext cx="1589809" cy="136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"/>
          <p:cNvSpPr/>
          <p:nvPr/>
        </p:nvSpPr>
        <p:spPr>
          <a:xfrm>
            <a:off x="961768" y="4847938"/>
            <a:ext cx="9357889" cy="798286"/>
          </a:xfrm>
          <a:prstGeom prst="snip1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9"/>
          <p:cNvSpPr txBox="1"/>
          <p:nvPr>
            <p:ph type="title"/>
          </p:nvPr>
        </p:nvSpPr>
        <p:spPr>
          <a:xfrm>
            <a:off x="2454491" y="897736"/>
            <a:ext cx="6937032" cy="555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rgbClr val="FF0000"/>
                </a:solidFill>
              </a:rPr>
              <a:t>Cont’d…</a:t>
            </a:r>
            <a:endParaRPr/>
          </a:p>
        </p:txBody>
      </p:sp>
      <p:sp>
        <p:nvSpPr>
          <p:cNvPr id="372" name="Google Shape;37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sp>
        <p:nvSpPr>
          <p:cNvPr id="373" name="Google Shape;373;p39"/>
          <p:cNvSpPr txBox="1"/>
          <p:nvPr/>
        </p:nvSpPr>
        <p:spPr>
          <a:xfrm>
            <a:off x="913795" y="2958064"/>
            <a:ext cx="907191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Debug: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debug menu contains options for  toggle and clear all breakpoints, execute next line, step into function, finish function continue/stop/helping debugging.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9"/>
          <p:cNvSpPr txBox="1"/>
          <p:nvPr/>
        </p:nvSpPr>
        <p:spPr>
          <a:xfrm>
            <a:off x="985831" y="2043215"/>
            <a:ext cx="9071916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Build: The build menu contains options for configure build tools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9"/>
          <p:cNvSpPr txBox="1"/>
          <p:nvPr/>
        </p:nvSpPr>
        <p:spPr>
          <a:xfrm>
            <a:off x="961768" y="4796372"/>
            <a:ext cx="90719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9. profile: 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profile menu contains options for start/stop/open/help profiling, profile selected lines.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795" y="371240"/>
            <a:ext cx="1589809" cy="136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 txBox="1"/>
          <p:nvPr>
            <p:ph type="title"/>
          </p:nvPr>
        </p:nvSpPr>
        <p:spPr>
          <a:xfrm>
            <a:off x="2454491" y="897736"/>
            <a:ext cx="6937032" cy="555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i="1" lang="en-US" sz="2400">
                <a:solidFill>
                  <a:srgbClr val="FF0000"/>
                </a:solidFill>
              </a:rPr>
              <a:t>Cont’d…</a:t>
            </a:r>
            <a:endParaRPr/>
          </a:p>
        </p:txBody>
      </p:sp>
      <p:sp>
        <p:nvSpPr>
          <p:cNvPr id="382" name="Google Shape;38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sp>
        <p:nvSpPr>
          <p:cNvPr id="383" name="Google Shape;383;p40"/>
          <p:cNvSpPr txBox="1"/>
          <p:nvPr/>
        </p:nvSpPr>
        <p:spPr>
          <a:xfrm>
            <a:off x="961768" y="3349822"/>
            <a:ext cx="9071917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 Helps: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help menu contains options for R help, about RStudio, community forum, and docs, markdown and roxygen quick reference, accessibility, cheat sheets, and diagnostics.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795" y="371240"/>
            <a:ext cx="1589809" cy="1361209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0"/>
          <p:cNvSpPr/>
          <p:nvPr/>
        </p:nvSpPr>
        <p:spPr>
          <a:xfrm>
            <a:off x="1013239" y="1968016"/>
            <a:ext cx="8968973" cy="943946"/>
          </a:xfrm>
          <a:prstGeom prst="snip1Rect">
            <a:avLst>
              <a:gd fmla="val 16667" name="adj"/>
            </a:avLst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10. Tools: The view menu contains options for </a:t>
            </a:r>
            <a:r>
              <a:rPr b="0" i="0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install and update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packages, version control, shell, terminal, jobs, add-in, memory, help and modify keyboard shortcut, project and global options…etc.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1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Baumans"/>
              <a:buNone/>
            </a:pPr>
            <a:r>
              <a:rPr lang="en-US">
                <a:solidFill>
                  <a:schemeClr val="accent1"/>
                </a:solidFill>
                <a:latin typeface="Baumans"/>
                <a:ea typeface="Baumans"/>
                <a:cs typeface="Baumans"/>
                <a:sym typeface="Baumans"/>
              </a:rPr>
              <a:t>RStudio Layout or panes</a:t>
            </a:r>
            <a:endParaRPr/>
          </a:p>
        </p:txBody>
      </p:sp>
      <p:sp>
        <p:nvSpPr>
          <p:cNvPr id="391" name="Google Shape;391;p41"/>
          <p:cNvSpPr txBox="1"/>
          <p:nvPr>
            <p:ph idx="1" type="body"/>
          </p:nvPr>
        </p:nvSpPr>
        <p:spPr>
          <a:xfrm>
            <a:off x="831850" y="1886574"/>
            <a:ext cx="10515600" cy="4543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Console</a:t>
            </a:r>
            <a:endParaRPr/>
          </a:p>
          <a:p>
            <a:pPr indent="-1270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is where R actually evaluates code and get an immediate response.</a:t>
            </a:r>
            <a:endParaRPr/>
          </a:p>
          <a:p>
            <a:pPr indent="-1270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the code into the Source, and then send the code to the Console </a:t>
            </a:r>
            <a:endParaRPr/>
          </a:p>
          <a:p>
            <a:pPr indent="-1270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type code directly into the console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700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/>
          </a:p>
          <a:p>
            <a:pPr indent="-1270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source pane is where you create and edit ``R Scripts" - your collections of code</a:t>
            </a:r>
            <a:endParaRPr/>
          </a:p>
          <a:p>
            <a:pPr indent="-1270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Equivalent of Do file editor in Stata</a:t>
            </a:r>
            <a:endParaRPr/>
          </a:p>
          <a:p>
            <a:pPr indent="-1270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open by default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392" name="Google Shape;39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pic>
        <p:nvPicPr>
          <p:cNvPr id="393" name="Google Shape;39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795" y="371240"/>
            <a:ext cx="1589809" cy="136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2"/>
          <p:cNvSpPr txBox="1"/>
          <p:nvPr>
            <p:ph type="title"/>
          </p:nvPr>
        </p:nvSpPr>
        <p:spPr>
          <a:xfrm>
            <a:off x="831850" y="713706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cont’d…</a:t>
            </a:r>
            <a:endParaRPr/>
          </a:p>
        </p:txBody>
      </p:sp>
      <p:sp>
        <p:nvSpPr>
          <p:cNvPr id="399" name="Google Shape;399;p42"/>
          <p:cNvSpPr txBox="1"/>
          <p:nvPr>
            <p:ph idx="1" type="body"/>
          </p:nvPr>
        </p:nvSpPr>
        <p:spPr>
          <a:xfrm>
            <a:off x="838200" y="2070586"/>
            <a:ext cx="10515600" cy="4950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/>
          </a:p>
          <a:p>
            <a:pPr indent="-1397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pane includes by default environment/history/connection/tutorial tabs.</a:t>
            </a:r>
            <a:endParaRPr/>
          </a:p>
          <a:p>
            <a:pPr indent="-1397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the names of all the data objects</a:t>
            </a:r>
            <a:endParaRPr/>
          </a:p>
          <a:p>
            <a:pPr indent="-1397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a history of all the code previously evaluated .</a:t>
            </a:r>
            <a:endParaRPr/>
          </a:p>
          <a:p>
            <a:pPr indent="-13970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clickable actions like “Import Dataset" 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File/Plot/Packages/Viewer/Etc.…</a:t>
            </a:r>
            <a:endParaRPr/>
          </a:p>
          <a:p>
            <a:pPr indent="-342900" lvl="2" marL="1152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list, install , update, and remove packages</a:t>
            </a:r>
            <a:endParaRPr/>
          </a:p>
          <a:p>
            <a:pPr indent="-342900" lvl="2" marL="1152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to the file directory  and shows all your plots</a:t>
            </a:r>
            <a:endParaRPr/>
          </a:p>
          <a:p>
            <a:pPr indent="-285750" lvl="2" marL="10957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 tabs for R functions.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810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2" marL="810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 sz="2000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400" name="Google Shape;400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pic>
        <p:nvPicPr>
          <p:cNvPr id="401" name="Google Shape;40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50" y="369074"/>
            <a:ext cx="1589809" cy="136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/>
          <p:nvPr>
            <p:ph type="title"/>
          </p:nvPr>
        </p:nvSpPr>
        <p:spPr>
          <a:xfrm>
            <a:off x="831850" y="781050"/>
            <a:ext cx="1051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Baumans"/>
              <a:buNone/>
            </a:pPr>
            <a:r>
              <a:rPr lang="en-US">
                <a:solidFill>
                  <a:schemeClr val="accent1"/>
                </a:solidFill>
                <a:latin typeface="Baumans"/>
                <a:ea typeface="Baumans"/>
                <a:cs typeface="Baumans"/>
                <a:sym typeface="Baumans"/>
              </a:rPr>
              <a:t>4 primary windows</a:t>
            </a:r>
            <a:endParaRPr/>
          </a:p>
        </p:txBody>
      </p:sp>
      <p:sp>
        <p:nvSpPr>
          <p:cNvPr id="407" name="Google Shape;407;p43"/>
          <p:cNvSpPr txBox="1"/>
          <p:nvPr>
            <p:ph idx="1" type="body"/>
          </p:nvPr>
        </p:nvSpPr>
        <p:spPr>
          <a:xfrm>
            <a:off x="993286" y="2959593"/>
            <a:ext cx="41836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08" name="Google Shape;408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sp>
        <p:nvSpPr>
          <p:cNvPr id="409" name="Google Shape;409;p43"/>
          <p:cNvSpPr txBox="1"/>
          <p:nvPr>
            <p:ph idx="2" type="body"/>
          </p:nvPr>
        </p:nvSpPr>
        <p:spPr>
          <a:xfrm>
            <a:off x="830066" y="1898650"/>
            <a:ext cx="10515599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10" name="Google Shape;410;p43"/>
          <p:cNvSpPr txBox="1"/>
          <p:nvPr>
            <p:ph idx="3" type="body"/>
          </p:nvPr>
        </p:nvSpPr>
        <p:spPr>
          <a:xfrm>
            <a:off x="6155960" y="2959593"/>
            <a:ext cx="41836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11" name="Google Shape;411;p43"/>
          <p:cNvSpPr txBox="1"/>
          <p:nvPr>
            <p:ph idx="4" type="body"/>
          </p:nvPr>
        </p:nvSpPr>
        <p:spPr>
          <a:xfrm>
            <a:off x="811311" y="3294245"/>
            <a:ext cx="4365625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110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43"/>
          <p:cNvSpPr txBox="1"/>
          <p:nvPr>
            <p:ph idx="5" type="body"/>
          </p:nvPr>
        </p:nvSpPr>
        <p:spPr>
          <a:xfrm>
            <a:off x="5973985" y="3294245"/>
            <a:ext cx="4365625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110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413" name="Google Shape;41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12" y="1810510"/>
            <a:ext cx="12088975" cy="5047489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3"/>
          <p:cNvSpPr/>
          <p:nvPr/>
        </p:nvSpPr>
        <p:spPr>
          <a:xfrm>
            <a:off x="2569028" y="2654859"/>
            <a:ext cx="1210124" cy="3346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/>
          </a:p>
        </p:txBody>
      </p:sp>
      <p:sp>
        <p:nvSpPr>
          <p:cNvPr id="415" name="Google Shape;415;p43"/>
          <p:cNvSpPr/>
          <p:nvPr/>
        </p:nvSpPr>
        <p:spPr>
          <a:xfrm>
            <a:off x="2895243" y="5112654"/>
            <a:ext cx="2423886" cy="42087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CONSOLE</a:t>
            </a:r>
            <a:endParaRPr/>
          </a:p>
        </p:txBody>
      </p:sp>
      <p:sp>
        <p:nvSpPr>
          <p:cNvPr id="416" name="Google Shape;416;p43"/>
          <p:cNvSpPr/>
          <p:nvPr/>
        </p:nvSpPr>
        <p:spPr>
          <a:xfrm>
            <a:off x="7800427" y="4807466"/>
            <a:ext cx="2873366" cy="555171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Baumans"/>
                <a:ea typeface="Baumans"/>
                <a:cs typeface="Baumans"/>
                <a:sym typeface="Baumans"/>
              </a:rPr>
              <a:t>File/Plots/Packages/...</a:t>
            </a:r>
            <a:endParaRPr/>
          </a:p>
        </p:txBody>
      </p:sp>
      <p:sp>
        <p:nvSpPr>
          <p:cNvPr id="417" name="Google Shape;417;p43"/>
          <p:cNvSpPr/>
          <p:nvPr/>
        </p:nvSpPr>
        <p:spPr>
          <a:xfrm>
            <a:off x="2569028" y="3790452"/>
            <a:ext cx="3744685" cy="72439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the code here and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hit the run tab to evaluate the code </a:t>
            </a:r>
            <a:endParaRPr/>
          </a:p>
        </p:txBody>
      </p:sp>
      <p:sp>
        <p:nvSpPr>
          <p:cNvPr id="418" name="Google Shape;418;p43"/>
          <p:cNvSpPr/>
          <p:nvPr/>
        </p:nvSpPr>
        <p:spPr>
          <a:xfrm>
            <a:off x="2140499" y="5962522"/>
            <a:ext cx="2917371" cy="61137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where the code from the source is evaluated by R</a:t>
            </a:r>
            <a:endParaRPr/>
          </a:p>
        </p:txBody>
      </p:sp>
      <p:sp>
        <p:nvSpPr>
          <p:cNvPr id="419" name="Google Shape;419;p43"/>
          <p:cNvSpPr/>
          <p:nvPr/>
        </p:nvSpPr>
        <p:spPr>
          <a:xfrm>
            <a:off x="8156797" y="3088517"/>
            <a:ext cx="3585260" cy="8512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to view object in workspace and command history</a:t>
            </a:r>
            <a:endParaRPr/>
          </a:p>
        </p:txBody>
      </p:sp>
      <p:cxnSp>
        <p:nvCxnSpPr>
          <p:cNvPr id="420" name="Google Shape;420;p43"/>
          <p:cNvCxnSpPr/>
          <p:nvPr/>
        </p:nvCxnSpPr>
        <p:spPr>
          <a:xfrm rot="10800000">
            <a:off x="4673600" y="2610289"/>
            <a:ext cx="0" cy="310651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21" name="Google Shape;421;p43"/>
          <p:cNvSpPr/>
          <p:nvPr/>
        </p:nvSpPr>
        <p:spPr>
          <a:xfrm>
            <a:off x="4040569" y="2920940"/>
            <a:ext cx="1917782" cy="46812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Click it to send code to evaluate </a:t>
            </a:r>
            <a:endParaRPr/>
          </a:p>
        </p:txBody>
      </p:sp>
      <p:sp>
        <p:nvSpPr>
          <p:cNvPr id="422" name="Google Shape;422;p43"/>
          <p:cNvSpPr/>
          <p:nvPr/>
        </p:nvSpPr>
        <p:spPr>
          <a:xfrm>
            <a:off x="8450112" y="2399652"/>
            <a:ext cx="3585260" cy="59698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Environment/History/tutorial/…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3"/>
          <p:cNvSpPr/>
          <p:nvPr/>
        </p:nvSpPr>
        <p:spPr>
          <a:xfrm>
            <a:off x="7800427" y="5512227"/>
            <a:ext cx="3545237" cy="80956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also view file in the file directory, plots, packages, and R helps</a:t>
            </a:r>
            <a:endParaRPr/>
          </a:p>
        </p:txBody>
      </p:sp>
      <p:pic>
        <p:nvPicPr>
          <p:cNvPr id="424" name="Google Shape;42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218" y="386638"/>
            <a:ext cx="1591194" cy="135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4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Baumans"/>
              <a:buNone/>
            </a:pPr>
            <a:r>
              <a:rPr b="0" lang="en-US" sz="3000" cap="none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WORKSPACE AND RSTUDIO PROJECT MANAGEMENT </a:t>
            </a:r>
            <a:endParaRPr sz="3000">
              <a:solidFill>
                <a:srgbClr val="FF0000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  <p:sp>
        <p:nvSpPr>
          <p:cNvPr id="430" name="Google Shape;430;p44"/>
          <p:cNvSpPr txBox="1"/>
          <p:nvPr>
            <p:ph idx="1" type="body"/>
          </p:nvPr>
        </p:nvSpPr>
        <p:spPr>
          <a:xfrm>
            <a:off x="925611" y="1897245"/>
            <a:ext cx="4365625" cy="373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79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getwd()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shows the working directory</a:t>
            </a:r>
            <a:endParaRPr/>
          </a:p>
          <a:p>
            <a:pPr indent="-1079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lits.d()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lists the working directory</a:t>
            </a:r>
            <a:endParaRPr/>
          </a:p>
          <a:p>
            <a:pPr indent="-1079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setwd()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sets the working directory</a:t>
            </a:r>
            <a:endParaRPr/>
          </a:p>
          <a:p>
            <a:pPr indent="-1079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choose.dir()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will prompt you to choose your directory (interactive)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431" name="Google Shape;431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sp>
        <p:nvSpPr>
          <p:cNvPr id="432" name="Google Shape;432;p44"/>
          <p:cNvSpPr txBox="1"/>
          <p:nvPr>
            <p:ph idx="2" type="body"/>
          </p:nvPr>
        </p:nvSpPr>
        <p:spPr>
          <a:xfrm>
            <a:off x="6338887" y="1897244"/>
            <a:ext cx="4365625" cy="373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795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setwd(“D:/RTraining/”)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this changes the wd Observe the forward slash or use double backslash. </a:t>
            </a:r>
            <a:endParaRPr/>
          </a:p>
          <a:p>
            <a:pPr indent="-10795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Setwd(“D:\\RTraining\\”)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same like above</a:t>
            </a:r>
            <a:endParaRPr/>
          </a:p>
          <a:p>
            <a:pPr indent="-10795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dir()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lists files in the working directory</a:t>
            </a:r>
            <a:endParaRPr/>
          </a:p>
          <a:p>
            <a:pPr indent="-10795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latin typeface="Courier New"/>
                <a:ea typeface="Courier New"/>
                <a:cs typeface="Courier New"/>
                <a:sym typeface="Courier New"/>
              </a:rPr>
              <a:t>list.files()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#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lists files in the working directory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5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aumans"/>
              <a:buNone/>
            </a:pPr>
            <a:r>
              <a:rPr lang="en-US" sz="4000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To Create an R project, go to:</a:t>
            </a:r>
            <a:endParaRPr>
              <a:solidFill>
                <a:srgbClr val="FF0000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  <p:sp>
        <p:nvSpPr>
          <p:cNvPr id="438" name="Google Shape;438;p45"/>
          <p:cNvSpPr txBox="1"/>
          <p:nvPr>
            <p:ph idx="1" type="body"/>
          </p:nvPr>
        </p:nvSpPr>
        <p:spPr>
          <a:xfrm>
            <a:off x="831850" y="1805080"/>
            <a:ext cx="10515599" cy="4271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Char char="⟹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 &gt; New Project and then choose: New Directory&gt; Name for the directory &gt; Click on Create Project.</a:t>
            </a:r>
            <a:endParaRPr/>
          </a:p>
          <a:p>
            <a:pPr indent="-1143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Char char="⟹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in the top right corner press the create project tab &gt; New Project and then choose: New Directory&gt; Name for the directory &gt; Click on Create Project</a:t>
            </a:r>
            <a:endParaRPr/>
          </a:p>
          <a:p>
            <a:pPr indent="-1143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Char char="⟹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in the top left corner press the project(none) icon &gt; New Project and then choose: New Directory&gt; Name for the directory &gt; Click on Create Project</a:t>
            </a:r>
            <a:endParaRPr/>
          </a:p>
          <a:p>
            <a:pPr indent="-1143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 Math"/>
              <a:buChar char="⟹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also create via this syntax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install.packages(“prodigenr”)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to install this package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Library(prodigenr</a:t>
            </a: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to call the package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setup_project(“ the path of the work directory")</a:t>
            </a:r>
            <a:endParaRPr b="0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more complex project it may be useful to create sub-directories to contain data, scripts and other documents separately. Can also type the below function into the Console, but we won't do that in this session.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439" name="Google Shape;43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Baumans"/>
              <a:buNone/>
            </a:pPr>
            <a:r>
              <a:rPr lang="en-US" sz="2800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Data permanency and removing objects</a:t>
            </a:r>
            <a:endParaRPr/>
          </a:p>
        </p:txBody>
      </p:sp>
      <p:sp>
        <p:nvSpPr>
          <p:cNvPr id="445" name="Google Shape;445;p46"/>
          <p:cNvSpPr txBox="1"/>
          <p:nvPr>
            <p:ph idx="1" type="body"/>
          </p:nvPr>
        </p:nvSpPr>
        <p:spPr>
          <a:xfrm>
            <a:off x="831850" y="1805079"/>
            <a:ext cx="7231977" cy="4138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 b="1" i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 b="1" i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446" name="Google Shape;44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sp>
        <p:nvSpPr>
          <p:cNvPr id="447" name="Google Shape;447;p46"/>
          <p:cNvSpPr txBox="1"/>
          <p:nvPr/>
        </p:nvSpPr>
        <p:spPr>
          <a:xfrm>
            <a:off x="831850" y="1852808"/>
            <a:ext cx="1051560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entities that R creates and manipulates are known as objects. These may be variables, arrays of numbers, character strings, functions, or more general structures built from such components.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an R session, objects are created and stored by name (we discuss this process in the next section). The R command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display the names of (most of) the objects which are currently stored within R.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objects()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ls()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remove objects the function rm is available: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rm()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remove all the objects in R type:</a:t>
            </a:r>
            <a:endParaRPr/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b="0" i="0" lang="en-US" sz="17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rm(list=ls(all=T))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7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Data structure and types</a:t>
            </a:r>
            <a:endParaRPr/>
          </a:p>
        </p:txBody>
      </p:sp>
      <p:sp>
        <p:nvSpPr>
          <p:cNvPr id="453" name="Google Shape;453;p47"/>
          <p:cNvSpPr txBox="1"/>
          <p:nvPr>
            <p:ph idx="1" type="body"/>
          </p:nvPr>
        </p:nvSpPr>
        <p:spPr>
          <a:xfrm>
            <a:off x="1070759" y="1846386"/>
            <a:ext cx="4183650" cy="478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i="0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data type in R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sp>
        <p:nvSpPr>
          <p:cNvPr id="455" name="Google Shape;455;p47"/>
          <p:cNvSpPr txBox="1"/>
          <p:nvPr>
            <p:ph idx="2" type="body"/>
          </p:nvPr>
        </p:nvSpPr>
        <p:spPr>
          <a:xfrm>
            <a:off x="5973985" y="1846385"/>
            <a:ext cx="41836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1" i="0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data 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i="0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tructures in R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7"/>
          <p:cNvSpPr txBox="1"/>
          <p:nvPr>
            <p:ph idx="3" type="body"/>
          </p:nvPr>
        </p:nvSpPr>
        <p:spPr>
          <a:xfrm>
            <a:off x="763095" y="2211510"/>
            <a:ext cx="4365625" cy="2339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Numeric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</a:t>
            </a:r>
            <a:endParaRPr/>
          </a:p>
          <a:p>
            <a:pPr indent="-11430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/>
          </a:p>
        </p:txBody>
      </p:sp>
      <p:sp>
        <p:nvSpPr>
          <p:cNvPr id="457" name="Google Shape;457;p47"/>
          <p:cNvSpPr txBox="1"/>
          <p:nvPr>
            <p:ph idx="4" type="body"/>
          </p:nvPr>
        </p:nvSpPr>
        <p:spPr>
          <a:xfrm>
            <a:off x="5792010" y="2004983"/>
            <a:ext cx="4365625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</a:pPr>
            <a:r>
              <a:rPr b="0" i="0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frame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100" lvl="0" marL="1800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8"/>
          <p:cNvSpPr txBox="1"/>
          <p:nvPr>
            <p:ph idx="1" type="body"/>
          </p:nvPr>
        </p:nvSpPr>
        <p:spPr>
          <a:xfrm>
            <a:off x="2740428" y="1922460"/>
            <a:ext cx="41836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functions</a:t>
            </a:r>
            <a:endParaRPr/>
          </a:p>
        </p:txBody>
      </p:sp>
      <p:sp>
        <p:nvSpPr>
          <p:cNvPr id="463" name="Google Shape;463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sp>
        <p:nvSpPr>
          <p:cNvPr id="464" name="Google Shape;464;p48"/>
          <p:cNvSpPr txBox="1"/>
          <p:nvPr>
            <p:ph idx="2" type="body"/>
          </p:nvPr>
        </p:nvSpPr>
        <p:spPr>
          <a:xfrm>
            <a:off x="765905" y="724434"/>
            <a:ext cx="10515599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None/>
            </a:pPr>
            <a:r>
              <a:rPr lang="en-US" sz="3600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examines features of vectors  and other objects</a:t>
            </a:r>
            <a:endParaRPr/>
          </a:p>
        </p:txBody>
      </p:sp>
      <p:sp>
        <p:nvSpPr>
          <p:cNvPr id="465" name="Google Shape;465;p48"/>
          <p:cNvSpPr txBox="1"/>
          <p:nvPr>
            <p:ph idx="3" type="body"/>
          </p:nvPr>
        </p:nvSpPr>
        <p:spPr>
          <a:xfrm>
            <a:off x="6114692" y="1889918"/>
            <a:ext cx="41836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purpose</a:t>
            </a:r>
            <a:endParaRPr/>
          </a:p>
        </p:txBody>
      </p:sp>
      <p:sp>
        <p:nvSpPr>
          <p:cNvPr id="466" name="Google Shape;466;p48"/>
          <p:cNvSpPr txBox="1"/>
          <p:nvPr>
            <p:ph idx="4" type="body"/>
          </p:nvPr>
        </p:nvSpPr>
        <p:spPr>
          <a:xfrm>
            <a:off x="2649440" y="2306902"/>
            <a:ext cx="4365625" cy="381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000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⮑"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class()</a:t>
            </a:r>
            <a:endParaRPr/>
          </a:p>
          <a:p>
            <a:pPr indent="-180000" lvl="0" marL="180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⮑"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typeof()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-180000" lvl="0" marL="180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⮑"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mode()</a:t>
            </a:r>
            <a:endParaRPr/>
          </a:p>
          <a:p>
            <a:pPr indent="-180000" lvl="0" marL="180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⮑"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length()</a:t>
            </a:r>
            <a:endParaRPr/>
          </a:p>
          <a:p>
            <a:pPr indent="-180000" lvl="0" marL="180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⮑"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attribute()</a:t>
            </a:r>
            <a:endParaRPr/>
          </a:p>
          <a:p>
            <a:pPr indent="-180000" lvl="0" marL="180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⮑"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Str()</a:t>
            </a:r>
            <a:endParaRPr/>
          </a:p>
        </p:txBody>
      </p:sp>
      <p:sp>
        <p:nvSpPr>
          <p:cNvPr id="467" name="Google Shape;467;p48"/>
          <p:cNvSpPr txBox="1"/>
          <p:nvPr>
            <p:ph idx="5" type="body"/>
          </p:nvPr>
        </p:nvSpPr>
        <p:spPr>
          <a:xfrm>
            <a:off x="5229950" y="2274360"/>
            <a:ext cx="4365625" cy="3563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000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⮑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What kinds of object is it(high level)</a:t>
            </a:r>
            <a:endParaRPr/>
          </a:p>
          <a:p>
            <a:pPr indent="-180000" lvl="0" marL="180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⮑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What is the object’s data type(low-level)</a:t>
            </a:r>
            <a:endParaRPr/>
          </a:p>
          <a:p>
            <a:pPr indent="-180000" lvl="0" marL="180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⮑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What is the object’s data type(often the same as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typeof())</a:t>
            </a:r>
            <a:endParaRPr/>
          </a:p>
          <a:p>
            <a:pPr indent="-180000" lvl="0" marL="180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⮑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How long is it?</a:t>
            </a:r>
            <a:endParaRPr/>
          </a:p>
          <a:p>
            <a:pPr indent="-180000" lvl="0" marL="180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⮑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Does it have any metadata</a:t>
            </a:r>
            <a:endParaRPr/>
          </a:p>
          <a:p>
            <a:pPr indent="-180000" lvl="0" marL="180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⮑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What is structure of the object?</a:t>
            </a:r>
            <a:endParaRPr/>
          </a:p>
          <a:p>
            <a:pPr indent="-53000" lvl="0" marL="180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9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Cont’d…</a:t>
            </a:r>
            <a:endParaRPr/>
          </a:p>
        </p:txBody>
      </p:sp>
      <p:sp>
        <p:nvSpPr>
          <p:cNvPr id="473" name="Google Shape;473;p49"/>
          <p:cNvSpPr txBox="1"/>
          <p:nvPr>
            <p:ph idx="1" type="body"/>
          </p:nvPr>
        </p:nvSpPr>
        <p:spPr>
          <a:xfrm>
            <a:off x="830066" y="1711233"/>
            <a:ext cx="10515599" cy="4826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type can be converted from one to other using as.something() and can be checked using is.something() code.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Vectors and assignment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 can be made using any of the following operators.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❶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 &lt;- 7 </a:t>
            </a:r>
            <a:r>
              <a:rPr b="0"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# keyboard shortcut for the operator &lt;- “alt + -”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❷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a=7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❸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assign(“a”,7)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7-&gt;a</a:t>
            </a:r>
            <a:endParaRPr b="0"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74" name="Google Shape;47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0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vectors</a:t>
            </a:r>
            <a:endParaRPr/>
          </a:p>
        </p:txBody>
      </p:sp>
      <p:sp>
        <p:nvSpPr>
          <p:cNvPr id="480" name="Google Shape;480;p50"/>
          <p:cNvSpPr txBox="1"/>
          <p:nvPr>
            <p:ph idx="1" type="body"/>
          </p:nvPr>
        </p:nvSpPr>
        <p:spPr>
          <a:xfrm>
            <a:off x="830066" y="1898650"/>
            <a:ext cx="10515599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5781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⟹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Vectors are the simplest type of object in R. They can easily be created with c, the combined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function.</a:t>
            </a:r>
            <a:endParaRPr/>
          </a:p>
          <a:p>
            <a:pPr indent="-285781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mbria Math"/>
              <a:buChar char="⟹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3 main types of vectors:</a:t>
            </a:r>
            <a:endParaRPr/>
          </a:p>
          <a:p>
            <a:pPr indent="-285781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Numeric vectors</a:t>
            </a:r>
            <a:endParaRPr/>
          </a:p>
          <a:p>
            <a:pPr indent="-285781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Character vectors</a:t>
            </a:r>
            <a:endParaRPr/>
          </a:p>
          <a:p>
            <a:pPr indent="-285781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Logical vectors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 Vector: Is a single entity consisting of an ordered collection of numbers.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x&lt;-c(</a:t>
            </a:r>
            <a:r>
              <a:rPr b="0" lang="en-US" sz="1800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10, 6, 3, 6, 22</a:t>
            </a:r>
            <a:r>
              <a:rPr b="0"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0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lang="en-US" sz="1800">
                <a:solidFill>
                  <a:srgbClr val="8F5902"/>
                </a:solidFill>
                <a:latin typeface="Courier New"/>
                <a:ea typeface="Courier New"/>
                <a:cs typeface="Courier New"/>
                <a:sym typeface="Courier New"/>
              </a:rPr>
              <a:t>&lt;-</a:t>
            </a:r>
            <a:r>
              <a:rPr b="0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c(</a:t>
            </a:r>
            <a:r>
              <a:rPr b="0" lang="en-US" sz="1800">
                <a:solidFill>
                  <a:srgbClr val="0000C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800">
                <a:solidFill>
                  <a:srgbClr val="0000C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800">
                <a:solidFill>
                  <a:srgbClr val="0000C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800">
                <a:solidFill>
                  <a:srgbClr val="0000CF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800">
                <a:solidFill>
                  <a:srgbClr val="0000CF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b="0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000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1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Character and logical vector</a:t>
            </a:r>
            <a:endParaRPr/>
          </a:p>
        </p:txBody>
      </p:sp>
      <p:sp>
        <p:nvSpPr>
          <p:cNvPr id="487" name="Google Shape;487;p51"/>
          <p:cNvSpPr txBox="1"/>
          <p:nvPr>
            <p:ph idx="1" type="body"/>
          </p:nvPr>
        </p:nvSpPr>
        <p:spPr>
          <a:xfrm>
            <a:off x="830066" y="1898650"/>
            <a:ext cx="10515599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mbria Math"/>
              <a:buChar char="⟹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 strings are entered using either matching double(“ ") or single(' ') quotes, but are printed using double quotes(or sometimes without quotes).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mbria Math"/>
              <a:buChar char="⟹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set up a character/string vector z consisting of 3 place names use: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b="0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z&lt;-c("Canberra","Sydney","Newcastle")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z&lt;-c('Canberra','Sydney', 'Newcastle’)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500"/>
              <a:buNone/>
            </a:pP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Logical Vectors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mbria Math"/>
              <a:buChar char="⟹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logical vector is a vector whose elements are TRUE, FALSE or NA.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cat(is.na(z)) or print(is.na(z))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FALSE FALSE FALSE TRUE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8" name="Google Shape;488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2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matrices</a:t>
            </a:r>
            <a:endParaRPr/>
          </a:p>
        </p:txBody>
      </p:sp>
      <p:sp>
        <p:nvSpPr>
          <p:cNvPr id="494" name="Google Shape;494;p52"/>
          <p:cNvSpPr txBox="1"/>
          <p:nvPr>
            <p:ph idx="1" type="body"/>
          </p:nvPr>
        </p:nvSpPr>
        <p:spPr>
          <a:xfrm>
            <a:off x="830066" y="1898650"/>
            <a:ext cx="10515599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Matrices a generalization of a vector with the same data type. A matrix can be generated in two ways.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1 Using the function dim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&gt;x &lt;- c(1:8)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dim(x) &lt;- c(2,4)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 Using the function matrix: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&gt;x &lt;- matrix(c(1:8),2,4,byrow=F)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function cbind(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rbind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create a matrix by binding two or more vectors as column(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row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vectors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3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arrays</a:t>
            </a:r>
            <a:endParaRPr/>
          </a:p>
        </p:txBody>
      </p:sp>
      <p:sp>
        <p:nvSpPr>
          <p:cNvPr id="501" name="Google Shape;501;p53"/>
          <p:cNvSpPr txBox="1"/>
          <p:nvPr>
            <p:ph idx="1" type="body"/>
          </p:nvPr>
        </p:nvSpPr>
        <p:spPr>
          <a:xfrm>
            <a:off x="830066" y="1898650"/>
            <a:ext cx="10515599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 are generalizations of vectors and matrices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means, vectors in the mathematical sense are one-dimensional arrays where as matrices are two-dimensional arrays; higher dimensions are also possible.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two methods of creating arrays in R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1: Using vectors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vector can be used by R as an array only if it has a dimension vector as its dim attribute.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array with dimension vector c(3,5,100) and a vector of 1500 elements.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z=c(1:1500)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dim(z) &lt;- c(3,5,100)</a:t>
            </a:r>
            <a:endParaRPr/>
          </a:p>
        </p:txBody>
      </p:sp>
      <p:sp>
        <p:nvSpPr>
          <p:cNvPr id="502" name="Google Shape;502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4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Cont’d…</a:t>
            </a:r>
            <a:endParaRPr/>
          </a:p>
        </p:txBody>
      </p:sp>
      <p:sp>
        <p:nvSpPr>
          <p:cNvPr id="508" name="Google Shape;508;p54"/>
          <p:cNvSpPr txBox="1"/>
          <p:nvPr>
            <p:ph idx="1" type="body"/>
          </p:nvPr>
        </p:nvSpPr>
        <p:spPr>
          <a:xfrm>
            <a:off x="830066" y="1898650"/>
            <a:ext cx="10515599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2: Using the function array()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array with dimension vector c(3,5,100) and a vector of 1500 elements.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&gt;z=array(1:1500, dim= c(3,5,100))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&gt;h&lt;-c(1:1500)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&gt;z&lt;- h ; dim(z) &lt;- c(3,5,100)</a:t>
            </a:r>
            <a:endParaRPr b="0"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5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list</a:t>
            </a:r>
            <a:endParaRPr/>
          </a:p>
        </p:txBody>
      </p:sp>
      <p:sp>
        <p:nvSpPr>
          <p:cNvPr id="515" name="Google Shape;515;p55"/>
          <p:cNvSpPr txBox="1"/>
          <p:nvPr>
            <p:ph idx="1" type="body"/>
          </p:nvPr>
        </p:nvSpPr>
        <p:spPr>
          <a:xfrm>
            <a:off x="830066" y="1898650"/>
            <a:ext cx="10515599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Lists: are collections of arbitrary objects. That is, the elements of a list can be objects of any type and structure.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Lists are created with the list() function: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&gt;L&lt;-list(object-1,object-2,…,object-m)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&gt;L &lt;- list( c(1,5,3), matrix(1:6, nrow=3), c("Hello","world") )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elements of the list are accessed with the [[ ]]operator.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Consider the previous example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L[[1]]      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First element of L</a:t>
            </a:r>
            <a:endParaRPr/>
          </a:p>
        </p:txBody>
      </p:sp>
      <p:sp>
        <p:nvSpPr>
          <p:cNvPr id="516" name="Google Shape;516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C00000"/>
                </a:solidFill>
                <a:latin typeface="Baumans"/>
                <a:ea typeface="Baumans"/>
                <a:cs typeface="Baumans"/>
                <a:sym typeface="Baumans"/>
              </a:rPr>
              <a:t>Data frames</a:t>
            </a:r>
            <a:endParaRPr/>
          </a:p>
        </p:txBody>
      </p:sp>
      <p:sp>
        <p:nvSpPr>
          <p:cNvPr id="522" name="Google Shape;522;p56"/>
          <p:cNvSpPr txBox="1"/>
          <p:nvPr>
            <p:ph idx="1" type="body"/>
          </p:nvPr>
        </p:nvSpPr>
        <p:spPr>
          <a:xfrm>
            <a:off x="830066" y="1898650"/>
            <a:ext cx="10515599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frames: regarded as an extension to matrices.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frames can have columns of different data types and are the most convenient data structure for data analysis in 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frames are lists with the constraint that all elements are vectors of the same length.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command data.frame() creates a data frame: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&gt;dat&lt;-data.frame(object-1,object-2,…,object-m)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name</a:t>
            </a:r>
            <a:r>
              <a:rPr b="0" lang="en-US" sz="1700">
                <a:solidFill>
                  <a:srgbClr val="8F590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c(</a:t>
            </a:r>
            <a:r>
              <a:rPr b="0" lang="en-US" sz="1700">
                <a:solidFill>
                  <a:srgbClr val="4E9A0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lang="en-US" sz="1700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Eden</a:t>
            </a:r>
            <a:r>
              <a:rPr b="0" lang="en-US" sz="1700">
                <a:solidFill>
                  <a:srgbClr val="4E9A06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700">
                <a:solidFill>
                  <a:srgbClr val="4E9A06"/>
                </a:solidFill>
                <a:latin typeface="Courier New"/>
                <a:ea typeface="Courier New"/>
                <a:cs typeface="Courier New"/>
                <a:sym typeface="Courier New"/>
              </a:rPr>
              <a:t>"Solomon"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700">
                <a:solidFill>
                  <a:srgbClr val="4E9A06"/>
                </a:solidFill>
                <a:latin typeface="Courier New"/>
                <a:ea typeface="Courier New"/>
                <a:cs typeface="Courier New"/>
                <a:sym typeface="Courier New"/>
              </a:rPr>
              <a:t>"Zelalem"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700">
                <a:solidFill>
                  <a:srgbClr val="4E9A06"/>
                </a:solidFill>
                <a:latin typeface="Courier New"/>
                <a:ea typeface="Courier New"/>
                <a:cs typeface="Courier New"/>
                <a:sym typeface="Courier New"/>
              </a:rPr>
              <a:t>"Kidist"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&gt; age</a:t>
            </a:r>
            <a:r>
              <a:rPr b="0" lang="en-US" sz="1700">
                <a:solidFill>
                  <a:srgbClr val="8F590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c(</a:t>
            </a:r>
            <a:r>
              <a:rPr b="0" lang="en-US" sz="1700">
                <a:solidFill>
                  <a:srgbClr val="0000CF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700">
                <a:solidFill>
                  <a:srgbClr val="0000CF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700">
                <a:solidFill>
                  <a:srgbClr val="0000CF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700">
                <a:solidFill>
                  <a:srgbClr val="0000CF"/>
                </a:solidFill>
                <a:latin typeface="Courier New"/>
                <a:ea typeface="Courier New"/>
                <a:cs typeface="Courier New"/>
                <a:sym typeface="Courier New"/>
              </a:rPr>
              <a:t>27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&gt; sex</a:t>
            </a:r>
            <a:r>
              <a:rPr b="0" lang="en-US" sz="1700">
                <a:solidFill>
                  <a:srgbClr val="8F590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c(</a:t>
            </a:r>
            <a:r>
              <a:rPr b="0" lang="en-US" sz="1700">
                <a:solidFill>
                  <a:srgbClr val="4E9A06"/>
                </a:solidFill>
                <a:latin typeface="Courier New"/>
                <a:ea typeface="Courier New"/>
                <a:cs typeface="Courier New"/>
                <a:sym typeface="Courier New"/>
              </a:rPr>
              <a:t>"F"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700">
                <a:solidFill>
                  <a:srgbClr val="4E9A06"/>
                </a:solidFill>
                <a:latin typeface="Courier New"/>
                <a:ea typeface="Courier New"/>
                <a:cs typeface="Courier New"/>
                <a:sym typeface="Courier New"/>
              </a:rPr>
              <a:t>"M"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700">
                <a:solidFill>
                  <a:srgbClr val="4E9A06"/>
                </a:solidFill>
                <a:latin typeface="Courier New"/>
                <a:ea typeface="Courier New"/>
                <a:cs typeface="Courier New"/>
                <a:sym typeface="Courier New"/>
              </a:rPr>
              <a:t>"M"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700">
                <a:solidFill>
                  <a:srgbClr val="4E9A06"/>
                </a:solidFill>
                <a:latin typeface="Courier New"/>
                <a:ea typeface="Courier New"/>
                <a:cs typeface="Courier New"/>
                <a:sym typeface="Courier New"/>
              </a:rPr>
              <a:t>"F"</a:t>
            </a:r>
            <a:r>
              <a:rPr b="0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accent3"/>
              </a:buClr>
              <a:buSzPts val="25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7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C00000"/>
                </a:solidFill>
                <a:latin typeface="Baumans"/>
                <a:ea typeface="Baumans"/>
                <a:cs typeface="Baumans"/>
                <a:sym typeface="Baumans"/>
              </a:rPr>
              <a:t>Cont’d…</a:t>
            </a:r>
            <a:endParaRPr/>
          </a:p>
        </p:txBody>
      </p:sp>
      <p:sp>
        <p:nvSpPr>
          <p:cNvPr id="529" name="Google Shape;529;p57"/>
          <p:cNvSpPr txBox="1"/>
          <p:nvPr>
            <p:ph idx="1" type="body"/>
          </p:nvPr>
        </p:nvSpPr>
        <p:spPr>
          <a:xfrm>
            <a:off x="830066" y="1898650"/>
            <a:ext cx="10515599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stud=data.frame(name,age,sex)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Stud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</a:rPr>
              <a:t>To display the column names: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</a:rPr>
              <a:t>&gt; </a:t>
            </a: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names(stud)    </a:t>
            </a:r>
            <a:r>
              <a:rPr lang="en-US">
                <a:solidFill>
                  <a:schemeClr val="dk1"/>
                </a:solidFill>
              </a:rPr>
              <a:t>#OR  colnames(stud)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display the row names: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rownames(stud)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change the column names: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&gt;names(stud)&lt;-c("name","age","sex")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change the row names: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&gt;row.names(stud)&lt;-("Wrt","Ato","Ato2","Wro")</a:t>
            </a:r>
            <a:endParaRPr/>
          </a:p>
          <a:p>
            <a:pPr indent="-12700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Noto Sans Symbols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8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FF0000"/>
                </a:solidFill>
                <a:latin typeface="Baumans"/>
                <a:ea typeface="Baumans"/>
                <a:cs typeface="Baumans"/>
                <a:sym typeface="Baumans"/>
              </a:rPr>
              <a:t>factors</a:t>
            </a:r>
            <a:endParaRPr/>
          </a:p>
        </p:txBody>
      </p:sp>
      <p:sp>
        <p:nvSpPr>
          <p:cNvPr id="536" name="Google Shape;536;p58"/>
          <p:cNvSpPr txBox="1"/>
          <p:nvPr>
            <p:ph idx="1" type="body"/>
          </p:nvPr>
        </p:nvSpPr>
        <p:spPr>
          <a:xfrm>
            <a:off x="830066" y="1898649"/>
            <a:ext cx="10515599" cy="4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81" lvl="0" marL="2857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Factors provide compact ways to handle categorical data</a:t>
            </a:r>
            <a:endParaRPr/>
          </a:p>
          <a:p>
            <a:pPr indent="-285781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R factor might be viewed simply as a vector with a bit more information added. That extra information consists of a record of the distinct values in that vector, calledlevels. Here’s an example: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x &lt;- c(</a:t>
            </a:r>
            <a:r>
              <a:rPr b="0" lang="en-US" sz="1800">
                <a:solidFill>
                  <a:srgbClr val="2E75B5"/>
                </a:solidFill>
                <a:latin typeface="Courier New"/>
                <a:ea typeface="Courier New"/>
                <a:cs typeface="Courier New"/>
                <a:sym typeface="Courier New"/>
              </a:rPr>
              <a:t>5,12,13,12</a:t>
            </a: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xf &lt;- factor(x)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The distinct values in xf—5, 12, and 13—are the levels here.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[1]5 12 13 12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Levels: 5 12 13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Functions Used with Factors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tapply(): tapply(x, xff, mean)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split()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, which splits a vector into groups and then applies a speciﬁed function on each group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by()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37" name="Google Shape;537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9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C00000"/>
                </a:solidFill>
                <a:latin typeface="Baumans"/>
                <a:ea typeface="Baumans"/>
                <a:cs typeface="Baumans"/>
                <a:sym typeface="Baumans"/>
              </a:rPr>
              <a:t>Reading(importing) data</a:t>
            </a:r>
            <a:endParaRPr/>
          </a:p>
        </p:txBody>
      </p:sp>
      <p:sp>
        <p:nvSpPr>
          <p:cNvPr id="543" name="Google Shape;543;p59"/>
          <p:cNvSpPr txBox="1"/>
          <p:nvPr>
            <p:ph idx="1" type="body"/>
          </p:nvPr>
        </p:nvSpPr>
        <p:spPr>
          <a:xfrm>
            <a:off x="830066" y="1898650"/>
            <a:ext cx="10515599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data objects will usually be read as values from external files rather than entered during an R session at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keyboard. In R you can import text files with the function read.table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 read.table(“file name", arguments)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getwd()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[1] "C:/Users/hp/Desktop/R-code"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myfile&lt;- "C:/Users/hp/Desktop/R-code/Data.txt"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mydf &lt;-read.table(myfile, skip=3,sep=",",header=TRUE)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44" name="Google Shape;544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  <p:sp>
        <p:nvSpPr>
          <p:cNvPr id="545" name="Google Shape;545;p59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0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C00000"/>
                </a:solidFill>
                <a:latin typeface="Baumans"/>
                <a:ea typeface="Baumans"/>
                <a:cs typeface="Baumans"/>
                <a:sym typeface="Baumans"/>
              </a:rPr>
              <a:t>other functions</a:t>
            </a:r>
            <a:endParaRPr/>
          </a:p>
        </p:txBody>
      </p:sp>
      <p:sp>
        <p:nvSpPr>
          <p:cNvPr id="551" name="Google Shape;551;p60"/>
          <p:cNvSpPr txBox="1"/>
          <p:nvPr>
            <p:ph idx="1" type="body"/>
          </p:nvPr>
        </p:nvSpPr>
        <p:spPr>
          <a:xfrm>
            <a:off x="830066" y="1898650"/>
            <a:ext cx="10515599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read.csv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to read ―comma separated values‖ files period as a decimal 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mbria Math"/>
              <a:buChar char="⟹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read.delim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to read- tab delimited files period as a decimal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read.mtp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functions to read Minitab files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read.spss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to reads a file stored by the SPSS save or export commands.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read.csv2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to reads a file separated by semicolon (;) and decimal by comma (,)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mbria Math"/>
              <a:buChar char="⟹"/>
            </a:pP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read.delim2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to reads file separated by tab (\t) and decimal by period (.)</a:t>
            </a:r>
            <a:endParaRPr/>
          </a:p>
          <a:p>
            <a:pPr indent="-285750" lvl="0" marL="28575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mbria Math"/>
              <a:buChar char="⟹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see the built-in dataset currently available use the following command: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&gt;data()</a:t>
            </a:r>
            <a:endParaRPr/>
          </a:p>
        </p:txBody>
      </p:sp>
      <p:sp>
        <p:nvSpPr>
          <p:cNvPr id="552" name="Google Shape;552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1"/>
          <p:cNvSpPr txBox="1"/>
          <p:nvPr>
            <p:ph type="title"/>
          </p:nvPr>
        </p:nvSpPr>
        <p:spPr>
          <a:xfrm>
            <a:off x="831850" y="781050"/>
            <a:ext cx="105156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Baumans"/>
              <a:buNone/>
            </a:pPr>
            <a:r>
              <a:rPr lang="en-US">
                <a:solidFill>
                  <a:srgbClr val="C00000"/>
                </a:solidFill>
                <a:latin typeface="Baumans"/>
                <a:ea typeface="Baumans"/>
                <a:cs typeface="Baumans"/>
                <a:sym typeface="Baumans"/>
              </a:rPr>
              <a:t>Writing(export) data</a:t>
            </a:r>
            <a:endParaRPr/>
          </a:p>
        </p:txBody>
      </p:sp>
      <p:sp>
        <p:nvSpPr>
          <p:cNvPr id="558" name="Google Shape;558;p61"/>
          <p:cNvSpPr txBox="1"/>
          <p:nvPr>
            <p:ph idx="1" type="body"/>
          </p:nvPr>
        </p:nvSpPr>
        <p:spPr>
          <a:xfrm>
            <a:off x="830066" y="1898650"/>
            <a:ext cx="10515599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(usually a matrix) x are written to file file. If x is a two-dimensional matrix you need to transpose it to get the columns in file the same as those in the internal representation.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To write a CSV file for input to Excel one might use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&gt;write.csv(,file = "filename.csv")</a:t>
            </a:r>
            <a:endParaRPr b="0" sz="20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&gt;write.table(x, file = "foo.csv", sep = ",", col.names = NA,</a:t>
            </a:r>
            <a:r>
              <a:rPr b="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qmethod = "double")</a:t>
            </a:r>
            <a:endParaRPr b="0" i="0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Writes a matrix or data frame to a file or the console, using column labels and a layout respecting columns.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&gt;write.matrix(x, file = "", sep = " ", blocksize)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save your output from a session in R can be saved using the sink command: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sink(“Rintro”)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</a:t>
            </a:r>
            <a:r>
              <a:rPr lang="en-US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you want to save output as word use .doc/docx file extensions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turn off the sink command: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0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 sink()</a:t>
            </a:r>
            <a:endParaRPr/>
          </a:p>
        </p:txBody>
      </p:sp>
      <p:sp>
        <p:nvSpPr>
          <p:cNvPr id="559" name="Google Shape;559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24/05/2023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2"/>
          <p:cNvSpPr txBox="1"/>
          <p:nvPr>
            <p:ph type="title"/>
          </p:nvPr>
        </p:nvSpPr>
        <p:spPr>
          <a:xfrm>
            <a:off x="1889961" y="1791018"/>
            <a:ext cx="8412079" cy="2810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Many thanks!!</a:t>
            </a:r>
            <a:endParaRPr/>
          </a:p>
        </p:txBody>
      </p:sp>
      <p:sp>
        <p:nvSpPr>
          <p:cNvPr id="565" name="Google Shape;565;p62"/>
          <p:cNvSpPr txBox="1"/>
          <p:nvPr>
            <p:ph idx="1" type="body"/>
          </p:nvPr>
        </p:nvSpPr>
        <p:spPr>
          <a:xfrm>
            <a:off x="1502619" y="543354"/>
            <a:ext cx="1364297" cy="1094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DBF"/>
              </a:buClr>
              <a:buSzPts val="23900"/>
              <a:buNone/>
            </a:pPr>
            <a:r>
              <a:rPr lang="en-US"/>
              <a:t>“</a:t>
            </a:r>
            <a:endParaRPr/>
          </a:p>
        </p:txBody>
      </p:sp>
      <p:sp>
        <p:nvSpPr>
          <p:cNvPr id="566" name="Google Shape;566;p62"/>
          <p:cNvSpPr txBox="1"/>
          <p:nvPr>
            <p:ph idx="2" type="body"/>
          </p:nvPr>
        </p:nvSpPr>
        <p:spPr>
          <a:xfrm>
            <a:off x="6096000" y="4521136"/>
            <a:ext cx="3511550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Haymanot Berelie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67" name="Google Shape;567;p62"/>
          <p:cNvSpPr txBox="1"/>
          <p:nvPr>
            <p:ph idx="3" type="body"/>
          </p:nvPr>
        </p:nvSpPr>
        <p:spPr>
          <a:xfrm>
            <a:off x="9420876" y="3426615"/>
            <a:ext cx="1364297" cy="1094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DBF"/>
              </a:buClr>
              <a:buSzPts val="23900"/>
              <a:buNone/>
            </a:pPr>
            <a:r>
              <a:rPr lang="en-US"/>
              <a:t>”</a:t>
            </a:r>
            <a:endParaRPr/>
          </a:p>
        </p:txBody>
      </p:sp>
      <p:sp>
        <p:nvSpPr>
          <p:cNvPr id="568" name="Google Shape;568;p62"/>
          <p:cNvSpPr txBox="1"/>
          <p:nvPr>
            <p:ph idx="10" type="dt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5E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E5EF"/>
                </a:solidFill>
                <a:latin typeface="Arial"/>
                <a:ea typeface="Arial"/>
                <a:cs typeface="Arial"/>
                <a:sym typeface="Arial"/>
              </a:rPr>
              <a:t>5/24/2023</a:t>
            </a:r>
            <a:endParaRPr b="0" i="0" sz="1200" u="none" cap="none" strike="noStrike">
              <a:solidFill>
                <a:srgbClr val="DAE5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5E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E5EF"/>
                </a:solidFill>
                <a:latin typeface="Arial"/>
                <a:ea typeface="Arial"/>
                <a:cs typeface="Arial"/>
                <a:sym typeface="Arial"/>
              </a:rPr>
              <a:t>Rstudio for beginners</a:t>
            </a:r>
            <a:endParaRPr/>
          </a:p>
        </p:txBody>
      </p:sp>
      <p:sp>
        <p:nvSpPr>
          <p:cNvPr id="570" name="Google Shape;570;p62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E5EF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DAE5E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DAE5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