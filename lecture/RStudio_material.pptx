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6858000" cx="12192000"/>
  <p:notesSz cx="6858000" cy="9144000"/>
  <p:embeddedFontLst>
    <p:embeddedFont>
      <p:font typeface="Limelight"/>
      <p:regular r:id="rId37"/>
    </p:embeddedFont>
    <p:embeddedFont>
      <p:font typeface="Arial Narrow"/>
      <p:regular r:id="rId38"/>
      <p:bold r:id="rId39"/>
      <p:italic r:id="rId40"/>
      <p:boldItalic r:id="rId41"/>
    </p:embeddedFont>
    <p:embeddedFont>
      <p:font typeface="Nosifer"/>
      <p:regular r:id="rId42"/>
    </p:embeddedFont>
    <p:embeddedFont>
      <p:font typeface="Baumans"/>
      <p:regular r:id="rId43"/>
    </p:embeddedFont>
    <p:embeddedFont>
      <p:font typeface="Century Gothic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4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4824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ArialNarrow-italic.fntdata"/><Relationship Id="rId20" Type="http://schemas.openxmlformats.org/officeDocument/2006/relationships/slide" Target="slides/slide15.xml"/><Relationship Id="rId42" Type="http://schemas.openxmlformats.org/officeDocument/2006/relationships/font" Target="fonts/Nosifer-regular.fntdata"/><Relationship Id="rId41" Type="http://schemas.openxmlformats.org/officeDocument/2006/relationships/font" Target="fonts/ArialNarrow-boldItalic.fntdata"/><Relationship Id="rId22" Type="http://schemas.openxmlformats.org/officeDocument/2006/relationships/slide" Target="slides/slide17.xml"/><Relationship Id="rId44" Type="http://schemas.openxmlformats.org/officeDocument/2006/relationships/font" Target="fonts/CenturyGothic-regular.fntdata"/><Relationship Id="rId21" Type="http://schemas.openxmlformats.org/officeDocument/2006/relationships/slide" Target="slides/slide16.xml"/><Relationship Id="rId43" Type="http://schemas.openxmlformats.org/officeDocument/2006/relationships/font" Target="fonts/Baumans-regular.fntdata"/><Relationship Id="rId24" Type="http://schemas.openxmlformats.org/officeDocument/2006/relationships/slide" Target="slides/slide19.xml"/><Relationship Id="rId46" Type="http://schemas.openxmlformats.org/officeDocument/2006/relationships/font" Target="fonts/CenturyGothic-italic.fntdata"/><Relationship Id="rId23" Type="http://schemas.openxmlformats.org/officeDocument/2006/relationships/slide" Target="slides/slide18.xml"/><Relationship Id="rId45" Type="http://schemas.openxmlformats.org/officeDocument/2006/relationships/font" Target="fonts/CenturyGothic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schemas.openxmlformats.org/officeDocument/2006/relationships/font" Target="fonts/CenturyGothic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Limelight-regular.fnt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ArialNarrow-bold.fntdata"/><Relationship Id="rId16" Type="http://schemas.openxmlformats.org/officeDocument/2006/relationships/slide" Target="slides/slide11.xml"/><Relationship Id="rId38" Type="http://schemas.openxmlformats.org/officeDocument/2006/relationships/font" Target="fonts/ArialNarrow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 txBox="1"/>
          <p:nvPr>
            <p:ph type="title"/>
          </p:nvPr>
        </p:nvSpPr>
        <p:spPr>
          <a:xfrm>
            <a:off x="406400" y="448056"/>
            <a:ext cx="11214100" cy="555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41825"/>
              </a:buClr>
              <a:buSzPts val="2800"/>
              <a:buFont typeface="Century Gothic"/>
              <a:buNone/>
              <a:defRPr sz="2800">
                <a:solidFill>
                  <a:srgbClr val="041825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1" type="body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9972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120"/>
              <a:buChar char="▶"/>
              <a:defRPr sz="1400">
                <a:solidFill>
                  <a:srgbClr val="FEFEFE"/>
                </a:solidFill>
              </a:defRPr>
            </a:lvl1pPr>
            <a:lvl2pPr indent="-29972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20"/>
              <a:buChar char="▶"/>
              <a:defRPr sz="1400">
                <a:solidFill>
                  <a:srgbClr val="FEFEFE"/>
                </a:solidFill>
              </a:defRPr>
            </a:lvl2pPr>
            <a:lvl3pPr indent="-29972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20"/>
              <a:buChar char="▶"/>
              <a:defRPr sz="1400">
                <a:solidFill>
                  <a:srgbClr val="FEFEFE"/>
                </a:solidFill>
              </a:defRPr>
            </a:lvl3pPr>
            <a:lvl4pPr indent="-29972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20"/>
              <a:buChar char="▶"/>
              <a:defRPr sz="1400">
                <a:solidFill>
                  <a:srgbClr val="FEFEFE"/>
                </a:solidFill>
              </a:defRPr>
            </a:lvl4pPr>
            <a:lvl5pPr indent="-29972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20"/>
              <a:buChar char="▶"/>
              <a:defRPr sz="1400">
                <a:solidFill>
                  <a:srgbClr val="FEFEFE"/>
                </a:solidFill>
              </a:defRPr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24" name="Google Shape;24;p2"/>
          <p:cNvSpPr txBox="1"/>
          <p:nvPr>
            <p:ph idx="10" type="dt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FEFEFE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"/>
          <p:cNvSpPr txBox="1"/>
          <p:nvPr>
            <p:ph idx="11" type="ftr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FEFEFE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"/>
          <p:cNvSpPr txBox="1"/>
          <p:nvPr>
            <p:ph idx="12" type="sldNum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7" name="Google Shape;27;p2"/>
          <p:cNvCxnSpPr/>
          <p:nvPr/>
        </p:nvCxnSpPr>
        <p:spPr>
          <a:xfrm>
            <a:off x="533400" y="1104900"/>
            <a:ext cx="11119104" cy="0"/>
          </a:xfrm>
          <a:prstGeom prst="straightConnector1">
            <a:avLst/>
          </a:prstGeom>
          <a:noFill/>
          <a:ln cap="flat" cmpd="sng" w="25400">
            <a:solidFill>
              <a:srgbClr val="D24726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 with Subtitle">
  <p:cSld name="Comparison with Subtitle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10893420" y="5803030"/>
            <a:ext cx="385200" cy="385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11334292" y="5787811"/>
            <a:ext cx="870509" cy="409651"/>
          </a:xfrm>
          <a:custGeom>
            <a:rect b="b" l="l" r="r" t="t"/>
            <a:pathLst>
              <a:path extrusionOk="0" h="409651" w="870509">
                <a:moveTo>
                  <a:pt x="203546" y="400690"/>
                </a:moveTo>
                <a:lnTo>
                  <a:pt x="860268" y="400690"/>
                </a:lnTo>
                <a:lnTo>
                  <a:pt x="860268" y="12802"/>
                </a:lnTo>
                <a:lnTo>
                  <a:pt x="203546" y="12802"/>
                </a:lnTo>
                <a:cubicBezTo>
                  <a:pt x="203546" y="12802"/>
                  <a:pt x="12802" y="12802"/>
                  <a:pt x="12802" y="203545"/>
                </a:cubicBezTo>
                <a:lnTo>
                  <a:pt x="12802" y="211226"/>
                </a:lnTo>
                <a:cubicBezTo>
                  <a:pt x="12802" y="209946"/>
                  <a:pt x="12802" y="400690"/>
                  <a:pt x="203546" y="40069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2000">
                <a:schemeClr val="accent1"/>
              </a:gs>
              <a:gs pos="100000">
                <a:schemeClr val="accent3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" name="Google Shape;31;p3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"/>
          <p:cNvSpPr txBox="1"/>
          <p:nvPr>
            <p:ph idx="1" type="body"/>
          </p:nvPr>
        </p:nvSpPr>
        <p:spPr>
          <a:xfrm>
            <a:off x="993286" y="2959593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500"/>
              </a:spcBef>
              <a:spcAft>
                <a:spcPts val="0"/>
              </a:spcAft>
              <a:buSzPts val="2000"/>
              <a:buNone/>
              <a:defRPr b="1" sz="2500">
                <a:solidFill>
                  <a:schemeClr val="accent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3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3"/>
          <p:cNvSpPr txBox="1"/>
          <p:nvPr>
            <p:ph idx="11" type="ftr"/>
          </p:nvPr>
        </p:nvSpPr>
        <p:spPr>
          <a:xfrm>
            <a:off x="812290" y="579776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3"/>
          <p:cNvSpPr txBox="1"/>
          <p:nvPr>
            <p:ph idx="2" type="body"/>
          </p:nvPr>
        </p:nvSpPr>
        <p:spPr>
          <a:xfrm>
            <a:off x="830066" y="1898650"/>
            <a:ext cx="10515599" cy="70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spcBef>
                <a:spcPts val="360"/>
              </a:spcBef>
              <a:spcAft>
                <a:spcPts val="0"/>
              </a:spcAft>
              <a:buSzPts val="1440"/>
              <a:buNone/>
              <a:defRPr b="1" i="0" sz="18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i="1" sz="18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i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i="1" sz="18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i="1" sz="1800"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37" name="Google Shape;37;p3"/>
          <p:cNvSpPr/>
          <p:nvPr/>
        </p:nvSpPr>
        <p:spPr>
          <a:xfrm>
            <a:off x="3019044" y="1583026"/>
            <a:ext cx="6153912" cy="151200"/>
          </a:xfrm>
          <a:custGeom>
            <a:rect b="b" l="l" r="r" t="t"/>
            <a:pathLst>
              <a:path extrusionOk="0" h="123825" w="4629150">
                <a:moveTo>
                  <a:pt x="4568666" y="118586"/>
                </a:moveTo>
                <a:lnTo>
                  <a:pt x="62389" y="118586"/>
                </a:lnTo>
                <a:cubicBezTo>
                  <a:pt x="31909" y="118586"/>
                  <a:pt x="7144" y="92869"/>
                  <a:pt x="7144" y="62389"/>
                </a:cubicBezTo>
                <a:lnTo>
                  <a:pt x="7144" y="62389"/>
                </a:lnTo>
                <a:cubicBezTo>
                  <a:pt x="7144" y="31909"/>
                  <a:pt x="31909" y="7144"/>
                  <a:pt x="62389" y="7144"/>
                </a:cubicBezTo>
                <a:lnTo>
                  <a:pt x="4568666" y="7144"/>
                </a:lnTo>
                <a:cubicBezTo>
                  <a:pt x="4599147" y="7144"/>
                  <a:pt x="4623912" y="31909"/>
                  <a:pt x="4623912" y="62389"/>
                </a:cubicBezTo>
                <a:lnTo>
                  <a:pt x="4623912" y="62389"/>
                </a:lnTo>
                <a:cubicBezTo>
                  <a:pt x="4623912" y="92869"/>
                  <a:pt x="4599147" y="118586"/>
                  <a:pt x="4568666" y="11858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" name="Google Shape;38;p3"/>
          <p:cNvSpPr txBox="1"/>
          <p:nvPr>
            <p:ph idx="3" type="body"/>
          </p:nvPr>
        </p:nvSpPr>
        <p:spPr>
          <a:xfrm>
            <a:off x="6155960" y="2959593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500"/>
              </a:spcBef>
              <a:spcAft>
                <a:spcPts val="0"/>
              </a:spcAft>
              <a:buSzPts val="2000"/>
              <a:buNone/>
              <a:defRPr b="1" sz="2500">
                <a:solidFill>
                  <a:schemeClr val="accent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3"/>
          <p:cNvSpPr txBox="1"/>
          <p:nvPr>
            <p:ph idx="4" type="body"/>
          </p:nvPr>
        </p:nvSpPr>
        <p:spPr>
          <a:xfrm>
            <a:off x="811311" y="3294245"/>
            <a:ext cx="4365625" cy="2333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99720" lvl="0" marL="45720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120"/>
              <a:buChar char="▶"/>
              <a:defRPr sz="1400">
                <a:solidFill>
                  <a:srgbClr val="FEFEFE"/>
                </a:solidFill>
              </a:defRPr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>
                <a:solidFill>
                  <a:srgbClr val="FEFEFE"/>
                </a:solidFill>
              </a:defRPr>
            </a:lvl2pPr>
            <a:lvl3pPr indent="-309880" lvl="2" marL="1371600" algn="l">
              <a:spcBef>
                <a:spcPts val="600"/>
              </a:spcBef>
              <a:spcAft>
                <a:spcPts val="0"/>
              </a:spcAft>
              <a:buSzPts val="1280"/>
              <a:buChar char="▶"/>
              <a:defRPr>
                <a:solidFill>
                  <a:srgbClr val="FEFEFE"/>
                </a:solidFill>
              </a:defRPr>
            </a:lvl3pPr>
            <a:lvl4pPr indent="-299720" lvl="3" marL="1828800" algn="l">
              <a:spcBef>
                <a:spcPts val="600"/>
              </a:spcBef>
              <a:spcAft>
                <a:spcPts val="0"/>
              </a:spcAft>
              <a:buSzPts val="1120"/>
              <a:buChar char="▶"/>
              <a:defRPr>
                <a:solidFill>
                  <a:srgbClr val="FEFEFE"/>
                </a:solidFill>
              </a:defRPr>
            </a:lvl4pPr>
            <a:lvl5pPr indent="-299720" lvl="4" marL="2286000" algn="l">
              <a:spcBef>
                <a:spcPts val="600"/>
              </a:spcBef>
              <a:spcAft>
                <a:spcPts val="0"/>
              </a:spcAft>
              <a:buSzPts val="1120"/>
              <a:buChar char="▶"/>
              <a:defRPr>
                <a:solidFill>
                  <a:srgbClr val="FEFEFE"/>
                </a:solidFill>
              </a:defRPr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5" type="body"/>
          </p:nvPr>
        </p:nvSpPr>
        <p:spPr>
          <a:xfrm>
            <a:off x="5973985" y="3294245"/>
            <a:ext cx="4365625" cy="2333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99720" lvl="0" marL="45720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120"/>
              <a:buChar char="▶"/>
              <a:defRPr sz="1400">
                <a:solidFill>
                  <a:srgbClr val="FEFEFE"/>
                </a:solidFill>
              </a:defRPr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>
                <a:solidFill>
                  <a:srgbClr val="FEFEFE"/>
                </a:solidFill>
              </a:defRPr>
            </a:lvl2pPr>
            <a:lvl3pPr indent="-309880" lvl="2" marL="1371600" algn="l">
              <a:spcBef>
                <a:spcPts val="600"/>
              </a:spcBef>
              <a:spcAft>
                <a:spcPts val="0"/>
              </a:spcAft>
              <a:buSzPts val="1280"/>
              <a:buChar char="▶"/>
              <a:defRPr>
                <a:solidFill>
                  <a:srgbClr val="FEFEFE"/>
                </a:solidFill>
              </a:defRPr>
            </a:lvl3pPr>
            <a:lvl4pPr indent="-299720" lvl="3" marL="1828800" algn="l">
              <a:spcBef>
                <a:spcPts val="600"/>
              </a:spcBef>
              <a:spcAft>
                <a:spcPts val="0"/>
              </a:spcAft>
              <a:buSzPts val="1120"/>
              <a:buChar char="▶"/>
              <a:defRPr>
                <a:solidFill>
                  <a:srgbClr val="FEFEFE"/>
                </a:solidFill>
              </a:defRPr>
            </a:lvl4pPr>
            <a:lvl5pPr indent="-299720" lvl="4" marL="2286000" algn="l">
              <a:spcBef>
                <a:spcPts val="600"/>
              </a:spcBef>
              <a:spcAft>
                <a:spcPts val="0"/>
              </a:spcAft>
              <a:buSzPts val="1120"/>
              <a:buChar char="▶"/>
              <a:defRPr>
                <a:solidFill>
                  <a:srgbClr val="FEFEFE"/>
                </a:solidFill>
              </a:defRPr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grpSp>
        <p:nvGrpSpPr>
          <p:cNvPr id="41" name="Google Shape;41;p3"/>
          <p:cNvGrpSpPr/>
          <p:nvPr/>
        </p:nvGrpSpPr>
        <p:grpSpPr>
          <a:xfrm>
            <a:off x="9999818" y="-7969"/>
            <a:ext cx="2199425" cy="1945482"/>
            <a:chOff x="9994666" y="-7969"/>
            <a:chExt cx="2199425" cy="1945482"/>
          </a:xfrm>
        </p:grpSpPr>
        <p:sp>
          <p:nvSpPr>
            <p:cNvPr id="42" name="Google Shape;42;p3"/>
            <p:cNvSpPr/>
            <p:nvPr/>
          </p:nvSpPr>
          <p:spPr>
            <a:xfrm>
              <a:off x="10712341" y="-7969"/>
              <a:ext cx="1466283" cy="1009398"/>
            </a:xfrm>
            <a:custGeom>
              <a:rect b="b" l="l" r="r" t="t"/>
              <a:pathLst>
                <a:path extrusionOk="0" h="1009397" w="1466283">
                  <a:moveTo>
                    <a:pt x="1467972" y="752798"/>
                  </a:moveTo>
                  <a:lnTo>
                    <a:pt x="1221466" y="871801"/>
                  </a:lnTo>
                  <a:cubicBezTo>
                    <a:pt x="928209" y="1015242"/>
                    <a:pt x="660453" y="997179"/>
                    <a:pt x="425635" y="821862"/>
                  </a:cubicBezTo>
                  <a:cubicBezTo>
                    <a:pt x="250319" y="689047"/>
                    <a:pt x="158942" y="512668"/>
                    <a:pt x="158942" y="510543"/>
                  </a:cubicBezTo>
                  <a:lnTo>
                    <a:pt x="145129" y="482917"/>
                  </a:lnTo>
                  <a:cubicBezTo>
                    <a:pt x="61190" y="315038"/>
                    <a:pt x="29314" y="155660"/>
                    <a:pt x="52689" y="7969"/>
                  </a:cubicBezTo>
                  <a:lnTo>
                    <a:pt x="14439" y="7969"/>
                  </a:lnTo>
                  <a:cubicBezTo>
                    <a:pt x="-6812" y="163097"/>
                    <a:pt x="24001" y="327789"/>
                    <a:pt x="111128" y="499918"/>
                  </a:cubicBezTo>
                  <a:lnTo>
                    <a:pt x="124941" y="527543"/>
                  </a:lnTo>
                  <a:cubicBezTo>
                    <a:pt x="129191" y="534981"/>
                    <a:pt x="219506" y="714548"/>
                    <a:pt x="402260" y="851613"/>
                  </a:cubicBezTo>
                  <a:cubicBezTo>
                    <a:pt x="508512" y="931302"/>
                    <a:pt x="656203" y="1004617"/>
                    <a:pt x="845333" y="1004617"/>
                  </a:cubicBezTo>
                  <a:cubicBezTo>
                    <a:pt x="961148" y="1004617"/>
                    <a:pt x="1091838" y="976991"/>
                    <a:pt x="1238467" y="906864"/>
                  </a:cubicBezTo>
                  <a:lnTo>
                    <a:pt x="1467972" y="795299"/>
                  </a:lnTo>
                  <a:lnTo>
                    <a:pt x="1467972" y="752798"/>
                  </a:lnTo>
                  <a:lnTo>
                    <a:pt x="1467972" y="752798"/>
                  </a:lnTo>
                  <a:lnTo>
                    <a:pt x="1467972" y="75279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3" name="Google Shape;43;p3"/>
            <p:cNvSpPr/>
            <p:nvPr/>
          </p:nvSpPr>
          <p:spPr>
            <a:xfrm>
              <a:off x="10014209" y="321414"/>
              <a:ext cx="2178175" cy="1593786"/>
            </a:xfrm>
            <a:custGeom>
              <a:rect b="b" l="l" r="r" t="t"/>
              <a:pathLst>
                <a:path extrusionOk="0" h="1593786" w="2178174">
                  <a:moveTo>
                    <a:pt x="231247" y="950428"/>
                  </a:moveTo>
                  <a:cubicBezTo>
                    <a:pt x="231247" y="950428"/>
                    <a:pt x="-101324" y="1111932"/>
                    <a:pt x="45305" y="1404126"/>
                  </a:cubicBezTo>
                  <a:lnTo>
                    <a:pt x="50617" y="1415814"/>
                  </a:lnTo>
                  <a:cubicBezTo>
                    <a:pt x="50617" y="1415814"/>
                    <a:pt x="197246" y="1708008"/>
                    <a:pt x="529816" y="1547566"/>
                  </a:cubicBezTo>
                  <a:lnTo>
                    <a:pt x="2173541" y="749611"/>
                  </a:lnTo>
                  <a:lnTo>
                    <a:pt x="2173541" y="7969"/>
                  </a:lnTo>
                  <a:lnTo>
                    <a:pt x="231247" y="95042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10732016" y="-7969"/>
              <a:ext cx="1455658" cy="839394"/>
            </a:xfrm>
            <a:custGeom>
              <a:rect b="b" l="l" r="r" t="t"/>
              <a:pathLst>
                <a:path extrusionOk="0" h="839394" w="1455658">
                  <a:moveTo>
                    <a:pt x="123329" y="521168"/>
                  </a:moveTo>
                  <a:cubicBezTo>
                    <a:pt x="123329" y="521168"/>
                    <a:pt x="212581" y="698610"/>
                    <a:pt x="390022" y="834613"/>
                  </a:cubicBezTo>
                  <a:lnTo>
                    <a:pt x="1455734" y="317163"/>
                  </a:lnTo>
                  <a:lnTo>
                    <a:pt x="1456797" y="7969"/>
                  </a:lnTo>
                  <a:lnTo>
                    <a:pt x="14951" y="7969"/>
                  </a:lnTo>
                  <a:cubicBezTo>
                    <a:pt x="-5237" y="145035"/>
                    <a:pt x="16014" y="307601"/>
                    <a:pt x="109516" y="493543"/>
                  </a:cubicBezTo>
                  <a:lnTo>
                    <a:pt x="123329" y="52116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11124635" y="1146995"/>
              <a:ext cx="1062524" cy="743767"/>
            </a:xfrm>
            <a:custGeom>
              <a:rect b="b" l="l" r="r" t="t"/>
              <a:pathLst>
                <a:path extrusionOk="0" h="743766" w="1062524">
                  <a:moveTo>
                    <a:pt x="1064178" y="7969"/>
                  </a:moveTo>
                  <a:lnTo>
                    <a:pt x="91968" y="480792"/>
                  </a:lnTo>
                  <a:cubicBezTo>
                    <a:pt x="91968" y="480792"/>
                    <a:pt x="-34472" y="543481"/>
                    <a:pt x="22904" y="658234"/>
                  </a:cubicBezTo>
                  <a:lnTo>
                    <a:pt x="25029" y="663546"/>
                  </a:lnTo>
                  <a:cubicBezTo>
                    <a:pt x="25029" y="663546"/>
                    <a:pt x="82405" y="780424"/>
                    <a:pt x="209908" y="718798"/>
                  </a:cubicBezTo>
                  <a:lnTo>
                    <a:pt x="1064178" y="302288"/>
                  </a:lnTo>
                  <a:lnTo>
                    <a:pt x="1064178" y="796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11105057" y="1128932"/>
              <a:ext cx="1083775" cy="775643"/>
            </a:xfrm>
            <a:custGeom>
              <a:rect b="b" l="l" r="r" t="t"/>
              <a:pathLst>
                <a:path extrusionOk="0" h="775642" w="1083774">
                  <a:moveTo>
                    <a:pt x="219924" y="719860"/>
                  </a:moveTo>
                  <a:cubicBezTo>
                    <a:pt x="112609" y="771924"/>
                    <a:pt x="65858" y="683734"/>
                    <a:pt x="60545" y="674172"/>
                  </a:cubicBezTo>
                  <a:lnTo>
                    <a:pt x="58420" y="668859"/>
                  </a:lnTo>
                  <a:cubicBezTo>
                    <a:pt x="9544" y="571107"/>
                    <a:pt x="114734" y="519043"/>
                    <a:pt x="118984" y="515856"/>
                  </a:cubicBezTo>
                  <a:lnTo>
                    <a:pt x="1083756" y="48345"/>
                  </a:lnTo>
                  <a:lnTo>
                    <a:pt x="1083756" y="7969"/>
                  </a:lnTo>
                  <a:lnTo>
                    <a:pt x="103046" y="482917"/>
                  </a:lnTo>
                  <a:cubicBezTo>
                    <a:pt x="100921" y="483980"/>
                    <a:pt x="36107" y="516918"/>
                    <a:pt x="14856" y="578544"/>
                  </a:cubicBezTo>
                  <a:cubicBezTo>
                    <a:pt x="3169" y="613608"/>
                    <a:pt x="6356" y="649733"/>
                    <a:pt x="24419" y="686922"/>
                  </a:cubicBezTo>
                  <a:lnTo>
                    <a:pt x="26544" y="692234"/>
                  </a:lnTo>
                  <a:cubicBezTo>
                    <a:pt x="44607" y="726235"/>
                    <a:pt x="88171" y="775111"/>
                    <a:pt x="157235" y="775111"/>
                  </a:cubicBezTo>
                  <a:cubicBezTo>
                    <a:pt x="180610" y="775111"/>
                    <a:pt x="207173" y="768736"/>
                    <a:pt x="236924" y="754923"/>
                  </a:cubicBezTo>
                  <a:lnTo>
                    <a:pt x="1083756" y="344789"/>
                  </a:lnTo>
                  <a:lnTo>
                    <a:pt x="1083756" y="301226"/>
                  </a:lnTo>
                  <a:lnTo>
                    <a:pt x="219924" y="7198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47" name="Google Shape;47;p3"/>
            <p:cNvSpPr/>
            <p:nvPr/>
          </p:nvSpPr>
          <p:spPr>
            <a:xfrm>
              <a:off x="9994666" y="301226"/>
              <a:ext cx="2199425" cy="1636287"/>
            </a:xfrm>
            <a:custGeom>
              <a:rect b="b" l="l" r="r" t="t"/>
              <a:pathLst>
                <a:path extrusionOk="0" h="1636287" w="2199425">
                  <a:moveTo>
                    <a:pt x="538733" y="1550754"/>
                  </a:moveTo>
                  <a:cubicBezTo>
                    <a:pt x="228476" y="1701633"/>
                    <a:pt x="90348" y="1439189"/>
                    <a:pt x="86098" y="1428564"/>
                  </a:cubicBezTo>
                  <a:lnTo>
                    <a:pt x="80785" y="1416876"/>
                  </a:lnTo>
                  <a:cubicBezTo>
                    <a:pt x="24471" y="1303186"/>
                    <a:pt x="35097" y="1196934"/>
                    <a:pt x="115848" y="1102369"/>
                  </a:cubicBezTo>
                  <a:cubicBezTo>
                    <a:pt x="176412" y="1030117"/>
                    <a:pt x="256102" y="989741"/>
                    <a:pt x="257164" y="988679"/>
                  </a:cubicBezTo>
                  <a:lnTo>
                    <a:pt x="2193084" y="49407"/>
                  </a:lnTo>
                  <a:lnTo>
                    <a:pt x="2193084" y="7969"/>
                  </a:lnTo>
                  <a:lnTo>
                    <a:pt x="241226" y="954678"/>
                  </a:lnTo>
                  <a:cubicBezTo>
                    <a:pt x="234851" y="958928"/>
                    <a:pt x="74410" y="1037555"/>
                    <a:pt x="23409" y="1187371"/>
                  </a:cubicBezTo>
                  <a:cubicBezTo>
                    <a:pt x="-3154" y="1265998"/>
                    <a:pt x="4283" y="1348875"/>
                    <a:pt x="47847" y="1433876"/>
                  </a:cubicBezTo>
                  <a:lnTo>
                    <a:pt x="53160" y="1445564"/>
                  </a:lnTo>
                  <a:cubicBezTo>
                    <a:pt x="53160" y="1447689"/>
                    <a:pt x="150912" y="1635756"/>
                    <a:pt x="358104" y="1635756"/>
                  </a:cubicBezTo>
                  <a:cubicBezTo>
                    <a:pt x="415480" y="1635756"/>
                    <a:pt x="481357" y="1621943"/>
                    <a:pt x="555734" y="1585817"/>
                  </a:cubicBezTo>
                  <a:lnTo>
                    <a:pt x="2193084" y="789987"/>
                  </a:lnTo>
                  <a:lnTo>
                    <a:pt x="2193084" y="748548"/>
                  </a:lnTo>
                  <a:lnTo>
                    <a:pt x="538733" y="155075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 txBox="1"/>
          <p:nvPr>
            <p:ph type="ctrTitle"/>
          </p:nvPr>
        </p:nvSpPr>
        <p:spPr>
          <a:xfrm>
            <a:off x="684212" y="685799"/>
            <a:ext cx="8001000" cy="2971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"/>
          <p:cNvSpPr txBox="1"/>
          <p:nvPr>
            <p:ph idx="1" type="subTitle"/>
          </p:nvPr>
        </p:nvSpPr>
        <p:spPr>
          <a:xfrm>
            <a:off x="684212" y="3843867"/>
            <a:ext cx="6400800" cy="19473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420"/>
              </a:spcBef>
              <a:spcAft>
                <a:spcPts val="0"/>
              </a:spcAft>
              <a:buSzPts val="1680"/>
              <a:buNone/>
              <a:defRPr sz="2100">
                <a:solidFill>
                  <a:srgbClr val="0F486F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4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4" name="Google Shape;54;p4"/>
          <p:cNvCxnSpPr/>
          <p:nvPr/>
        </p:nvCxnSpPr>
        <p:spPr>
          <a:xfrm flipH="1">
            <a:off x="8228012" y="8467"/>
            <a:ext cx="3810000" cy="38100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" name="Google Shape;55;p4"/>
          <p:cNvCxnSpPr/>
          <p:nvPr/>
        </p:nvCxnSpPr>
        <p:spPr>
          <a:xfrm flipH="1">
            <a:off x="6108170" y="91545"/>
            <a:ext cx="6080655" cy="6080655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" name="Google Shape;56;p4"/>
          <p:cNvCxnSpPr/>
          <p:nvPr/>
        </p:nvCxnSpPr>
        <p:spPr>
          <a:xfrm flipH="1">
            <a:off x="7235825" y="228600"/>
            <a:ext cx="4953000" cy="49530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4"/>
          <p:cNvCxnSpPr/>
          <p:nvPr/>
        </p:nvCxnSpPr>
        <p:spPr>
          <a:xfrm flipH="1">
            <a:off x="7335837" y="32278"/>
            <a:ext cx="4852989" cy="4852989"/>
          </a:xfrm>
          <a:prstGeom prst="straightConnector1">
            <a:avLst/>
          </a:prstGeom>
          <a:noFill/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" name="Google Shape;58;p4"/>
          <p:cNvCxnSpPr/>
          <p:nvPr/>
        </p:nvCxnSpPr>
        <p:spPr>
          <a:xfrm flipH="1">
            <a:off x="7845426" y="609601"/>
            <a:ext cx="4343399" cy="4343399"/>
          </a:xfrm>
          <a:prstGeom prst="straightConnector1">
            <a:avLst/>
          </a:prstGeom>
          <a:noFill/>
          <a:ln cap="flat" cmpd="sng" w="317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5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"/>
          <p:cNvSpPr txBox="1"/>
          <p:nvPr>
            <p:ph type="title"/>
          </p:nvPr>
        </p:nvSpPr>
        <p:spPr>
          <a:xfrm>
            <a:off x="684211" y="2006600"/>
            <a:ext cx="8534401" cy="228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b="0" sz="36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684213" y="4495800"/>
            <a:ext cx="8534400" cy="1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6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7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"/>
          <p:cNvSpPr txBox="1"/>
          <p:nvPr>
            <p:ph idx="1" type="body"/>
          </p:nvPr>
        </p:nvSpPr>
        <p:spPr>
          <a:xfrm>
            <a:off x="684211" y="685800"/>
            <a:ext cx="4937655" cy="3615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74" name="Google Shape;74;p7"/>
          <p:cNvSpPr txBox="1"/>
          <p:nvPr>
            <p:ph idx="2" type="body"/>
          </p:nvPr>
        </p:nvSpPr>
        <p:spPr>
          <a:xfrm>
            <a:off x="5808133" y="685801"/>
            <a:ext cx="4934479" cy="361526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75" name="Google Shape;75;p7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7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8"/>
          <p:cNvSpPr txBox="1"/>
          <p:nvPr>
            <p:ph idx="1" type="body"/>
          </p:nvPr>
        </p:nvSpPr>
        <p:spPr>
          <a:xfrm>
            <a:off x="972080" y="685800"/>
            <a:ext cx="4649787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560"/>
              </a:spcBef>
              <a:spcAft>
                <a:spcPts val="0"/>
              </a:spcAft>
              <a:buSzPts val="2240"/>
              <a:buNone/>
              <a:defRPr b="0" sz="2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81" name="Google Shape;81;p8"/>
          <p:cNvSpPr txBox="1"/>
          <p:nvPr>
            <p:ph idx="2" type="body"/>
          </p:nvPr>
        </p:nvSpPr>
        <p:spPr>
          <a:xfrm>
            <a:off x="684211" y="1270529"/>
            <a:ext cx="4937655" cy="3030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82" name="Google Shape;82;p8"/>
          <p:cNvSpPr txBox="1"/>
          <p:nvPr>
            <p:ph idx="3" type="body"/>
          </p:nvPr>
        </p:nvSpPr>
        <p:spPr>
          <a:xfrm>
            <a:off x="6079066" y="685800"/>
            <a:ext cx="4665134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560"/>
              </a:spcBef>
              <a:spcAft>
                <a:spcPts val="0"/>
              </a:spcAft>
              <a:buSzPts val="2240"/>
              <a:buNone/>
              <a:defRPr b="0" sz="2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83" name="Google Shape;83;p8"/>
          <p:cNvSpPr txBox="1"/>
          <p:nvPr>
            <p:ph idx="4" type="body"/>
          </p:nvPr>
        </p:nvSpPr>
        <p:spPr>
          <a:xfrm>
            <a:off x="5806545" y="1262062"/>
            <a:ext cx="4929188" cy="3030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84" name="Google Shape;84;p8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8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8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9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9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9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9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0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0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1"/>
          <p:cNvSpPr txBox="1"/>
          <p:nvPr>
            <p:ph type="title"/>
          </p:nvPr>
        </p:nvSpPr>
        <p:spPr>
          <a:xfrm>
            <a:off x="7085012" y="685800"/>
            <a:ext cx="3657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1" type="body"/>
          </p:nvPr>
        </p:nvSpPr>
        <p:spPr>
          <a:xfrm>
            <a:off x="684212" y="685800"/>
            <a:ext cx="5943601" cy="53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2" type="body"/>
          </p:nvPr>
        </p:nvSpPr>
        <p:spPr>
          <a:xfrm>
            <a:off x="7085012" y="2209799"/>
            <a:ext cx="3657600" cy="20912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SzPts val="128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0" name="Google Shape;100;p11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1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1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2"/>
          <p:cNvSpPr txBox="1"/>
          <p:nvPr>
            <p:ph type="title"/>
          </p:nvPr>
        </p:nvSpPr>
        <p:spPr>
          <a:xfrm>
            <a:off x="4722812" y="1447800"/>
            <a:ext cx="6019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  <a:defRPr b="0"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2"/>
          <p:cNvSpPr/>
          <p:nvPr>
            <p:ph idx="2" type="pic"/>
          </p:nvPr>
        </p:nvSpPr>
        <p:spPr>
          <a:xfrm>
            <a:off x="989012" y="914400"/>
            <a:ext cx="3280974" cy="4572000"/>
          </a:xfrm>
          <a:prstGeom prst="snip2DiagRect">
            <a:avLst>
              <a:gd fmla="val 10815" name="adj1"/>
              <a:gd fmla="val 0" name="adj2"/>
            </a:avLst>
          </a:prstGeom>
          <a:noFill/>
          <a:ln cap="flat" cmpd="sng" w="15875">
            <a:solidFill>
              <a:schemeClr val="l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4722812" y="2777066"/>
            <a:ext cx="6021388" cy="20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7" name="Google Shape;107;p12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12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2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3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3"/>
          <p:cNvSpPr/>
          <p:nvPr>
            <p:ph idx="2" type="pic"/>
          </p:nvPr>
        </p:nvSpPr>
        <p:spPr>
          <a:xfrm>
            <a:off x="685800" y="533400"/>
            <a:ext cx="10818812" cy="3124200"/>
          </a:xfrm>
          <a:prstGeom prst="snip2DiagRect">
            <a:avLst>
              <a:gd fmla="val 10815" name="adj1"/>
              <a:gd fmla="val 0" name="adj2"/>
            </a:avLst>
          </a:prstGeom>
          <a:noFill/>
          <a:ln cap="flat" cmpd="sng" w="15875">
            <a:solidFill>
              <a:schemeClr val="l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13"/>
          <p:cNvSpPr txBox="1"/>
          <p:nvPr>
            <p:ph idx="1" type="body"/>
          </p:nvPr>
        </p:nvSpPr>
        <p:spPr>
          <a:xfrm>
            <a:off x="914402" y="3843867"/>
            <a:ext cx="83042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SzPts val="1280"/>
              <a:buFont typeface="Century Gothic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14" name="Google Shape;114;p13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3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3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 txBox="1"/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b="0" sz="32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4"/>
          <p:cNvSpPr txBox="1"/>
          <p:nvPr>
            <p:ph idx="1" type="body"/>
          </p:nvPr>
        </p:nvSpPr>
        <p:spPr>
          <a:xfrm>
            <a:off x="684212" y="4114800"/>
            <a:ext cx="8535988" cy="18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14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4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4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/>
          <p:nvPr>
            <p:ph type="title"/>
          </p:nvPr>
        </p:nvSpPr>
        <p:spPr>
          <a:xfrm>
            <a:off x="1141411" y="685800"/>
            <a:ext cx="9144001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b="0" sz="320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5"/>
          <p:cNvSpPr txBox="1"/>
          <p:nvPr>
            <p:ph idx="1" type="body"/>
          </p:nvPr>
        </p:nvSpPr>
        <p:spPr>
          <a:xfrm>
            <a:off x="1446212" y="3429000"/>
            <a:ext cx="8534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SzPts val="1600"/>
              <a:buFont typeface="Century Gothic"/>
              <a:buNone/>
              <a:defRPr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26" name="Google Shape;126;p15"/>
          <p:cNvSpPr txBox="1"/>
          <p:nvPr>
            <p:ph idx="2" type="body"/>
          </p:nvPr>
        </p:nvSpPr>
        <p:spPr>
          <a:xfrm>
            <a:off x="684213" y="4301067"/>
            <a:ext cx="8534400" cy="1684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15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5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5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 txBox="1"/>
          <p:nvPr>
            <p:ph type="title"/>
          </p:nvPr>
        </p:nvSpPr>
        <p:spPr>
          <a:xfrm>
            <a:off x="684212" y="3429000"/>
            <a:ext cx="8534400" cy="169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b="0" sz="32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6"/>
          <p:cNvSpPr txBox="1"/>
          <p:nvPr>
            <p:ph idx="1" type="body"/>
          </p:nvPr>
        </p:nvSpPr>
        <p:spPr>
          <a:xfrm>
            <a:off x="684211" y="5132981"/>
            <a:ext cx="8535990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5" name="Google Shape;135;p16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6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16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Name Card">
  <p:cSld name="Quote Name Card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/>
          <p:nvPr>
            <p:ph type="title"/>
          </p:nvPr>
        </p:nvSpPr>
        <p:spPr>
          <a:xfrm>
            <a:off x="1141413" y="685800"/>
            <a:ext cx="9144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b="0" sz="320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17"/>
          <p:cNvSpPr txBox="1"/>
          <p:nvPr>
            <p:ph idx="1" type="body"/>
          </p:nvPr>
        </p:nvSpPr>
        <p:spPr>
          <a:xfrm>
            <a:off x="684212" y="3928534"/>
            <a:ext cx="8534401" cy="10498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1920"/>
              <a:buNone/>
              <a:defRPr b="0" sz="2400" cap="none">
                <a:solidFill>
                  <a:schemeClr val="lt1"/>
                </a:solidFill>
              </a:defRPr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41" name="Google Shape;141;p17"/>
          <p:cNvSpPr txBox="1"/>
          <p:nvPr>
            <p:ph idx="2" type="body"/>
          </p:nvPr>
        </p:nvSpPr>
        <p:spPr>
          <a:xfrm>
            <a:off x="684211" y="4978400"/>
            <a:ext cx="8534401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2" name="Google Shape;142;p17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7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7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ue or False">
  <p:cSld name="True or False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 txBox="1"/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18"/>
          <p:cNvSpPr txBox="1"/>
          <p:nvPr>
            <p:ph idx="1" type="body"/>
          </p:nvPr>
        </p:nvSpPr>
        <p:spPr>
          <a:xfrm>
            <a:off x="684212" y="3928534"/>
            <a:ext cx="8534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1920"/>
              <a:buNone/>
              <a:defRPr b="0" sz="2400" cap="none">
                <a:solidFill>
                  <a:schemeClr val="lt1"/>
                </a:solidFill>
              </a:defRPr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50" name="Google Shape;150;p18"/>
          <p:cNvSpPr txBox="1"/>
          <p:nvPr>
            <p:ph idx="2" type="body"/>
          </p:nvPr>
        </p:nvSpPr>
        <p:spPr>
          <a:xfrm>
            <a:off x="684211" y="4766732"/>
            <a:ext cx="8534401" cy="1227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1" name="Google Shape;151;p18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18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9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19"/>
          <p:cNvSpPr txBox="1"/>
          <p:nvPr>
            <p:ph idx="1" type="body"/>
          </p:nvPr>
        </p:nvSpPr>
        <p:spPr>
          <a:xfrm rot="5400000">
            <a:off x="3143778" y="-1773766"/>
            <a:ext cx="3615267" cy="85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57" name="Google Shape;157;p19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19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19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0"/>
          <p:cNvSpPr txBox="1"/>
          <p:nvPr>
            <p:ph type="title"/>
          </p:nvPr>
        </p:nvSpPr>
        <p:spPr>
          <a:xfrm rot="5400000">
            <a:off x="7427912" y="1943100"/>
            <a:ext cx="45720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0"/>
          <p:cNvSpPr txBox="1"/>
          <p:nvPr>
            <p:ph idx="1" type="body"/>
          </p:nvPr>
        </p:nvSpPr>
        <p:spPr>
          <a:xfrm rot="5400000">
            <a:off x="1943100" y="-571500"/>
            <a:ext cx="5308600" cy="7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indent="-320040" lvl="1" marL="914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indent="-320040" lvl="2" marL="1371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indent="-320040" lvl="3" marL="18288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indent="-320040" lvl="4" marL="22860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sp>
        <p:nvSpPr>
          <p:cNvPr id="163" name="Google Shape;163;p20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20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0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1"/>
          <p:cNvSpPr txBox="1"/>
          <p:nvPr>
            <p:ph type="title"/>
          </p:nvPr>
        </p:nvSpPr>
        <p:spPr>
          <a:xfrm>
            <a:off x="404310" y="2484470"/>
            <a:ext cx="5463090" cy="21305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Century Gothic"/>
              <a:buNone/>
              <a:defRPr b="0" sz="54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Graphical user interface&#10;&#10;Description automatically generated" id="168" name="Google Shape;16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53792" y="138819"/>
            <a:ext cx="2369315" cy="867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Header">
  <p:cSld name="1_Section Header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/>
          <p:nvPr>
            <p:ph idx="1" type="body"/>
          </p:nvPr>
        </p:nvSpPr>
        <p:spPr>
          <a:xfrm>
            <a:off x="450596" y="2560320"/>
            <a:ext cx="9445752" cy="3977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50520" lvl="0" marL="457200" algn="l">
              <a:spcBef>
                <a:spcPts val="480"/>
              </a:spcBef>
              <a:spcAft>
                <a:spcPts val="0"/>
              </a:spcAft>
              <a:buSzPts val="1920"/>
              <a:buChar char="▶"/>
              <a:defRPr sz="2400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9560" lvl="1" marL="914400" algn="l">
              <a:spcBef>
                <a:spcPts val="600"/>
              </a:spcBef>
              <a:spcAft>
                <a:spcPts val="0"/>
              </a:spcAft>
              <a:buSzPts val="960"/>
              <a:buChar char="▶"/>
              <a:defRPr sz="1200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9560" lvl="2" marL="1371600" algn="l">
              <a:spcBef>
                <a:spcPts val="600"/>
              </a:spcBef>
              <a:spcAft>
                <a:spcPts val="0"/>
              </a:spcAft>
              <a:buSzPts val="960"/>
              <a:buChar char="▶"/>
              <a:defRPr sz="1200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9560" lvl="3" marL="1828800" algn="l">
              <a:spcBef>
                <a:spcPts val="600"/>
              </a:spcBef>
              <a:spcAft>
                <a:spcPts val="0"/>
              </a:spcAft>
              <a:buSzPts val="960"/>
              <a:buChar char="▶"/>
              <a:defRPr sz="1200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9560" lvl="4" marL="2286000" algn="l">
              <a:spcBef>
                <a:spcPts val="600"/>
              </a:spcBef>
              <a:spcAft>
                <a:spcPts val="0"/>
              </a:spcAft>
              <a:buSzPts val="960"/>
              <a:buChar char="▶"/>
              <a:defRPr sz="1200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20040" lvl="5" marL="27432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indent="-320040" lvl="6" marL="32004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indent="-320040" lvl="7" marL="365760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indent="-320040" lvl="8" marL="411480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/>
        </p:txBody>
      </p:sp>
      <p:cxnSp>
        <p:nvCxnSpPr>
          <p:cNvPr id="171" name="Google Shape;171;p22"/>
          <p:cNvCxnSpPr/>
          <p:nvPr/>
        </p:nvCxnSpPr>
        <p:spPr>
          <a:xfrm>
            <a:off x="533400" y="1104900"/>
            <a:ext cx="11119104" cy="0"/>
          </a:xfrm>
          <a:prstGeom prst="straightConnector1">
            <a:avLst/>
          </a:prstGeom>
          <a:noFill/>
          <a:ln cap="flat" cmpd="sng" w="25400">
            <a:solidFill>
              <a:srgbClr val="D2472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22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62D2EF"/>
            </a:gs>
            <a:gs pos="10000">
              <a:srgbClr val="62D2EF"/>
            </a:gs>
            <a:gs pos="100000">
              <a:srgbClr val="05578D"/>
            </a:gs>
          </a:gsLst>
          <a:lin ang="612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Google Shape;11;p1"/>
            <p:cNvCxnSpPr/>
            <p:nvPr/>
          </p:nvCxnSpPr>
          <p:spPr>
            <a:xfrm flipH="1">
              <a:off x="11276012" y="2963333"/>
              <a:ext cx="912814" cy="912812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" name="Google Shape;12;p1"/>
            <p:cNvCxnSpPr/>
            <p:nvPr/>
          </p:nvCxnSpPr>
          <p:spPr>
            <a:xfrm flipH="1">
              <a:off x="9206969" y="3190344"/>
              <a:ext cx="2981857" cy="2981856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" name="Google Shape;13;p1"/>
            <p:cNvCxnSpPr/>
            <p:nvPr/>
          </p:nvCxnSpPr>
          <p:spPr>
            <a:xfrm flipH="1">
              <a:off x="10292292" y="3285067"/>
              <a:ext cx="1896534" cy="1896533"/>
            </a:xfrm>
            <a:prstGeom prst="straightConnector1">
              <a:avLst/>
            </a:prstGeom>
            <a:noFill/>
            <a:ln cap="flat" cmpd="sng" w="952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 flipH="1">
              <a:off x="10443103" y="3131080"/>
              <a:ext cx="1745722" cy="1745720"/>
            </a:xfrm>
            <a:prstGeom prst="straightConnector1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 flipH="1">
              <a:off x="10918826" y="3683001"/>
              <a:ext cx="1270001" cy="1269999"/>
            </a:xfrm>
            <a:prstGeom prst="straightConnector1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6" name="Google Shape;16;p1"/>
          <p:cNvSpPr txBox="1"/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b="0" i="0" sz="3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7" name="Google Shape;17;p1"/>
          <p:cNvSpPr txBox="1"/>
          <p:nvPr>
            <p:ph idx="1" type="body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▶"/>
              <a:defRPr b="0" i="0" sz="20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0040" lvl="1" marL="9144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▶"/>
              <a:defRPr b="0" i="0" sz="18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09880" lvl="2" marL="13716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80"/>
              <a:buFont typeface="Noto Sans Symbols"/>
              <a:buChar char="▶"/>
              <a:defRPr b="0" i="0" sz="16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99720" lvl="3" marL="18288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99720" lvl="4" marL="22860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99720" lvl="5" marL="27432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99720" lvl="6" marL="32004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99720" lvl="7" marL="3657600" marR="0" rtl="0" algn="l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99720" lvl="8" marL="4114800" marR="0" rtl="0" algn="l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120"/>
              <a:buFont typeface="Noto Sans Symbols"/>
              <a:buChar char="▶"/>
              <a:defRPr b="0" i="0" sz="1400" u="none" cap="none" strike="noStrik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8" name="Google Shape;18;p1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9" name="Google Shape;19;p1"/>
          <p:cNvSpPr txBox="1"/>
          <p:nvPr>
            <p:ph idx="11" type="ftr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20" name="Google Shape;20;p1"/>
          <p:cNvSpPr txBox="1"/>
          <p:nvPr>
            <p:ph idx="12" type="sldNum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3200" u="none" cap="none" strike="noStrik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3984">
          <p15:clr>
            <a:srgbClr val="F26B43"/>
          </p15:clr>
        </p15:guide>
        <p15:guide id="2" pos="336">
          <p15:clr>
            <a:srgbClr val="F26B43"/>
          </p15:clr>
        </p15:guide>
        <p15:guide id="3" pos="7320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orient="horz" pos="264">
          <p15:clr>
            <a:srgbClr val="F26B43"/>
          </p15:clr>
        </p15:guide>
        <p15:guide id="6" orient="horz" pos="696">
          <p15:clr>
            <a:srgbClr val="F26B43"/>
          </p15:clr>
        </p15:guide>
        <p15:guide id="7" pos="36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/>
          <p:nvPr/>
        </p:nvSpPr>
        <p:spPr>
          <a:xfrm>
            <a:off x="1515648" y="2273828"/>
            <a:ext cx="9144001" cy="1938992"/>
          </a:xfrm>
          <a:prstGeom prst="rect">
            <a:avLst/>
          </a:prstGeom>
          <a:solidFill>
            <a:schemeClr val="accent3"/>
          </a:solidFill>
          <a:ln cap="rnd" cmpd="sng" w="15875">
            <a:solidFill>
              <a:srgbClr val="0D6D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EF4E24"/>
                </a:solidFill>
                <a:latin typeface="Baumans"/>
                <a:ea typeface="Baumans"/>
                <a:cs typeface="Baumans"/>
                <a:sym typeface="Baumans"/>
              </a:rPr>
              <a:t>Introduction to RStudio Environment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Basic Features</a:t>
            </a:r>
            <a:endParaRPr b="0" i="0" sz="4000" u="none" cap="none" strike="noStrike">
              <a:solidFill>
                <a:schemeClr val="lt1"/>
              </a:solidFill>
              <a:latin typeface="Limelight"/>
              <a:ea typeface="Limelight"/>
              <a:cs typeface="Limelight"/>
              <a:sym typeface="Limelight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3600" u="none" cap="none" strike="noStrike">
              <a:solidFill>
                <a:schemeClr val="lt1"/>
              </a:solidFill>
              <a:latin typeface="Nosifer"/>
              <a:ea typeface="Nosifer"/>
              <a:cs typeface="Nosifer"/>
              <a:sym typeface="Nosifer"/>
            </a:endParaRPr>
          </a:p>
        </p:txBody>
      </p:sp>
      <p:sp>
        <p:nvSpPr>
          <p:cNvPr id="178" name="Google Shape;178;p23"/>
          <p:cNvSpPr/>
          <p:nvPr/>
        </p:nvSpPr>
        <p:spPr>
          <a:xfrm>
            <a:off x="4214404" y="4244964"/>
            <a:ext cx="3763187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accent6"/>
                </a:solidFill>
                <a:latin typeface="Comic Sans MS"/>
                <a:ea typeface="Comic Sans MS"/>
                <a:cs typeface="Comic Sans MS"/>
                <a:sym typeface="Comic Sans MS"/>
              </a:rPr>
              <a:t>October 14, 2022</a:t>
            </a:r>
            <a:endParaRPr b="1" i="0" sz="2400" u="none" cap="none" strike="noStrike">
              <a:solidFill>
                <a:schemeClr val="accent6"/>
              </a:solidFill>
              <a:latin typeface="Comic Sans MS"/>
              <a:ea typeface="Comic Sans MS"/>
              <a:cs typeface="Comic Sans MS"/>
              <a:sym typeface="Comic Sans M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accent6"/>
                </a:solidFill>
                <a:latin typeface="Comic Sans MS"/>
                <a:ea typeface="Comic Sans MS"/>
                <a:cs typeface="Comic Sans MS"/>
                <a:sym typeface="Comic Sans MS"/>
              </a:rPr>
              <a:t>Dangila, Ethiopia</a:t>
            </a:r>
            <a:endParaRPr/>
          </a:p>
        </p:txBody>
      </p:sp>
      <p:sp>
        <p:nvSpPr>
          <p:cNvPr id="179" name="Google Shape;179;p23"/>
          <p:cNvSpPr/>
          <p:nvPr/>
        </p:nvSpPr>
        <p:spPr>
          <a:xfrm>
            <a:off x="1954059" y="3535712"/>
            <a:ext cx="8232465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0066"/>
                </a:solidFill>
                <a:latin typeface="Baumans"/>
                <a:ea typeface="Baumans"/>
                <a:cs typeface="Baumans"/>
                <a:sym typeface="Baumans"/>
              </a:rPr>
              <a:t>Compiled by Haymanot Berelie</a:t>
            </a:r>
            <a:endParaRPr/>
          </a:p>
        </p:txBody>
      </p:sp>
      <p:pic>
        <p:nvPicPr>
          <p:cNvPr id="180" name="Google Shape;18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425" y="98425"/>
            <a:ext cx="546100" cy="439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9390" y="318294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3"/>
          <p:cNvSpPr txBox="1"/>
          <p:nvPr>
            <p:ph idx="10" type="dt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lose up of a piece of paper with a pencil laying on top" id="187" name="Google Shape;18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2357"/>
            <a:ext cx="1219198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4"/>
          <p:cNvSpPr/>
          <p:nvPr/>
        </p:nvSpPr>
        <p:spPr>
          <a:xfrm>
            <a:off x="3116689" y="999947"/>
            <a:ext cx="8526968" cy="9114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EF4E24"/>
                </a:solidFill>
                <a:latin typeface="Baumans"/>
                <a:ea typeface="Baumans"/>
                <a:cs typeface="Baumans"/>
                <a:sym typeface="Baumans"/>
              </a:rPr>
              <a:t>OVERVIEW OF RSTUDIO</a:t>
            </a:r>
            <a:endParaRPr/>
          </a:p>
        </p:txBody>
      </p:sp>
      <p:sp>
        <p:nvSpPr>
          <p:cNvPr id="189" name="Google Shape;189;p24"/>
          <p:cNvSpPr txBox="1"/>
          <p:nvPr/>
        </p:nvSpPr>
        <p:spPr>
          <a:xfrm>
            <a:off x="4525351" y="2012071"/>
            <a:ext cx="7831016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0066"/>
                </a:solidFill>
                <a:latin typeface="Arial"/>
                <a:ea typeface="Arial"/>
                <a:cs typeface="Arial"/>
                <a:sym typeface="Arial"/>
              </a:rPr>
              <a:t>Why Rstudio?</a:t>
            </a:r>
            <a:endParaRPr/>
          </a:p>
        </p:txBody>
      </p:sp>
      <p:pic>
        <p:nvPicPr>
          <p:cNvPr id="190" name="Google Shape;19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3847" y="1654631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4"/>
          <p:cNvSpPr txBox="1"/>
          <p:nvPr>
            <p:ph idx="10" type="dt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/>
          <p:nvPr/>
        </p:nvSpPr>
        <p:spPr>
          <a:xfrm>
            <a:off x="726645" y="2051991"/>
            <a:ext cx="9047550" cy="71870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RStudio is a powerful and productive user interface for R or Integrated Development Environment (IDE) for R and makes using R easier.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Organize your code, output, and plots.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Auto-complete code and highlight syntax.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 view data and objects.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Enable easy integration of R code into documents.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Char char="⟾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User-friendly interfaces.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mbria Math"/>
              <a:buChar char="⟾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Open source, but paid option as well (not worth it for typical users)</a:t>
            </a:r>
            <a:endParaRPr/>
          </a:p>
          <a:p>
            <a:pPr indent="-3429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mbria Math"/>
              <a:buChar char="⟾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Same install process</a:t>
            </a:r>
            <a:endParaRPr/>
          </a:p>
          <a:p>
            <a:pPr indent="0" lvl="0" marL="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None/>
            </a:pPr>
            <a:r>
              <a:t/>
            </a:r>
            <a:endParaRPr sz="22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None/>
            </a:pPr>
            <a:r>
              <a:t/>
            </a:r>
            <a:endParaRPr sz="22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None/>
            </a:pPr>
            <a:r>
              <a:t/>
            </a:r>
            <a:endParaRPr sz="22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342900" marR="0" rtl="0" algn="just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mbria Math"/>
              <a:buNone/>
            </a:pPr>
            <a:r>
              <a:t/>
            </a:r>
            <a:endParaRPr sz="22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5"/>
          <p:cNvSpPr txBox="1"/>
          <p:nvPr/>
        </p:nvSpPr>
        <p:spPr>
          <a:xfrm>
            <a:off x="3268458" y="1065289"/>
            <a:ext cx="5107445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0066"/>
                </a:solidFill>
                <a:latin typeface="Baumans"/>
                <a:ea typeface="Baumans"/>
                <a:cs typeface="Baumans"/>
                <a:sym typeface="Baumans"/>
              </a:rPr>
              <a:t>Introduction to RStudio</a:t>
            </a:r>
            <a:endParaRPr/>
          </a:p>
        </p:txBody>
      </p:sp>
      <p:pic>
        <p:nvPicPr>
          <p:cNvPr id="198" name="Google Shape;19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5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Baumans"/>
              <a:buNone/>
            </a:pPr>
            <a:r>
              <a:rPr lang="en-US">
                <a:latin typeface="Baumans"/>
                <a:ea typeface="Baumans"/>
                <a:cs typeface="Baumans"/>
                <a:sym typeface="Baumans"/>
              </a:rPr>
              <a:t>BENEFITS OF RSTUDIO</a:t>
            </a:r>
            <a:endParaRPr/>
          </a:p>
        </p:txBody>
      </p:sp>
      <p:sp>
        <p:nvSpPr>
          <p:cNvPr id="205" name="Google Shape;205;p26"/>
          <p:cNvSpPr txBox="1"/>
          <p:nvPr>
            <p:ph idx="1" type="body"/>
          </p:nvPr>
        </p:nvSpPr>
        <p:spPr>
          <a:xfrm>
            <a:off x="1052186" y="1878804"/>
            <a:ext cx="9920613" cy="4050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1" marL="800100" rtl="0" algn="l">
              <a:spcBef>
                <a:spcPts val="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Easier transition from Stata to R</a:t>
            </a:r>
            <a:endParaRPr/>
          </a:p>
          <a:p>
            <a:pPr indent="-342900" lvl="1" marL="8001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Multiple window views at once – Results, Code, Working Environment, and Graphs</a:t>
            </a:r>
            <a:endParaRPr/>
          </a:p>
          <a:p>
            <a:pPr indent="-342900" lvl="1" marL="8001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something on your computer crashes while you’re working, R will have your code waiting for you when you re-open RStudio.</a:t>
            </a:r>
            <a:endParaRPr/>
          </a:p>
          <a:p>
            <a:pPr indent="-342900" lvl="1" marL="8001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Auto suggesting  the function And re-type everything all over again when a mistake make in typing code into the console.</a:t>
            </a:r>
            <a:endParaRPr sz="20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sp>
        <p:nvSpPr>
          <p:cNvPr id="206" name="Google Shape;206;p26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pic>
        <p:nvPicPr>
          <p:cNvPr id="207" name="Google Shape;20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Baumans"/>
              <a:buNone/>
            </a:pPr>
            <a:r>
              <a:rPr lang="en-US">
                <a:latin typeface="Baumans"/>
                <a:ea typeface="Baumans"/>
                <a:cs typeface="Baumans"/>
                <a:sym typeface="Baumans"/>
              </a:rPr>
              <a:t>GETTING STARTED WITH RSTUDIO</a:t>
            </a:r>
            <a:endParaRPr/>
          </a:p>
        </p:txBody>
      </p:sp>
      <p:sp>
        <p:nvSpPr>
          <p:cNvPr id="213" name="Google Shape;213;p27"/>
          <p:cNvSpPr txBox="1"/>
          <p:nvPr>
            <p:ph idx="1" type="body"/>
          </p:nvPr>
        </p:nvSpPr>
        <p:spPr>
          <a:xfrm>
            <a:off x="1352811" y="2004063"/>
            <a:ext cx="9369468" cy="3808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Once you have installed RStudio, there will be an icon on your desktop.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Double click it and RStudio will start up. 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the R system, the main window (RGui) with a sub window (R Console)</a:t>
            </a:r>
            <a:b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will appear. In the `Console' window the cursor is waiting for you to type in some R commands. 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Char char="⟹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 does have a few pull-down menus,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20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3429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None/>
            </a:pPr>
            <a:r>
              <a:t/>
            </a:r>
            <a:endParaRPr sz="20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1300" lvl="0" marL="342900" rtl="0" algn="l">
              <a:spcBef>
                <a:spcPts val="1000"/>
              </a:spcBef>
              <a:spcAft>
                <a:spcPts val="0"/>
              </a:spcAft>
              <a:buSzPts val="1600"/>
              <a:buFont typeface="Cambria Math"/>
              <a:buNone/>
            </a:pPr>
            <a:r>
              <a:t/>
            </a:r>
            <a:endParaRPr sz="20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sp>
        <p:nvSpPr>
          <p:cNvPr id="214" name="Google Shape;214;p27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pic>
        <p:nvPicPr>
          <p:cNvPr id="215" name="Google Shape;21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/>
          <p:nvPr/>
        </p:nvSpPr>
        <p:spPr>
          <a:xfrm>
            <a:off x="2505205" y="434440"/>
            <a:ext cx="8233506" cy="539378"/>
          </a:xfrm>
          <a:prstGeom prst="rect">
            <a:avLst/>
          </a:prstGeom>
          <a:gradFill>
            <a:gsLst>
              <a:gs pos="0">
                <a:srgbClr val="B5D7C6"/>
              </a:gs>
              <a:gs pos="100000">
                <a:srgbClr val="5EBEA1"/>
              </a:gs>
            </a:gsLst>
            <a:lin ang="5400000" scaled="0"/>
          </a:gradFill>
          <a:ln cap="rnd" cmpd="sng" w="9525">
            <a:solidFill>
              <a:srgbClr val="86B69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FEFEF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1" name="Google Shape;221;p28"/>
          <p:cNvSpPr txBox="1"/>
          <p:nvPr/>
        </p:nvSpPr>
        <p:spPr>
          <a:xfrm>
            <a:off x="2943887" y="476801"/>
            <a:ext cx="3965276" cy="676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Times New Roman"/>
              <a:buNone/>
            </a:pPr>
            <a:r>
              <a:rPr b="1" i="1" lang="en-US" sz="2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menu bar</a:t>
            </a:r>
            <a:endParaRPr b="1" i="1" sz="28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539495" y="1332335"/>
            <a:ext cx="10491361" cy="5091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</a:pPr>
            <a:r>
              <a:rPr b="1"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menu bar in RStudio contains 11 </a:t>
            </a:r>
            <a:r>
              <a:rPr b="1" lang="en-US" sz="2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b="1"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pull down menus, which are:</a:t>
            </a:r>
            <a:endParaRPr b="0" sz="2200">
              <a:solidFill>
                <a:srgbClr val="02173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1" marL="914400" marR="0" rtl="0" algn="just">
              <a:lnSpc>
                <a:spcPct val="150000"/>
              </a:lnSpc>
              <a:spcBef>
                <a:spcPts val="22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AutoNum type="arabicPeriod"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File: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file menu contains options for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new file, new project, opening, saving,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printing R documents, importing dataset, compile pdf,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as well as the option for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exiting the session or project (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clicking on the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x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 the R window or typing the command q() on the  console). </a:t>
            </a:r>
            <a:endParaRPr/>
          </a:p>
          <a:p>
            <a:pPr indent="-342900" lvl="1" marL="80010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mbria Math"/>
              <a:buChar char="⟹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New file: open new r script, python scripts ,shell, Markdown, notebooks, html file, latex or sweave document…</a:t>
            </a:r>
            <a:endParaRPr/>
          </a:p>
          <a:p>
            <a:pPr indent="-342900" lvl="1" marL="8001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mbria Math"/>
              <a:buChar char="⟹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New project: for handling the analysis of new data and keep everything together.</a:t>
            </a:r>
            <a:endParaRPr/>
          </a:p>
          <a:p>
            <a:pPr indent="-342900" lvl="1" marL="8001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mbria Math"/>
              <a:buChar char="⟹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Open: data, project in the new sessions, script, and other documentation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Century Gothic"/>
              <a:buNone/>
            </a:pPr>
            <a:r>
              <a:t/>
            </a:r>
            <a:endParaRPr b="1" sz="2500">
              <a:solidFill>
                <a:schemeClr val="accent3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23" name="Google Shape;22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6055" y="225468"/>
            <a:ext cx="1589809" cy="1106867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0" type="dt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/>
          <p:nvPr>
            <p:ph type="title"/>
          </p:nvPr>
        </p:nvSpPr>
        <p:spPr>
          <a:xfrm>
            <a:off x="3348506" y="1044754"/>
            <a:ext cx="2267845" cy="58044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Times New Roman"/>
              <a:buNone/>
            </a:pPr>
            <a:r>
              <a:rPr b="1" i="1" lang="en-US" sz="3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CONT’D..</a:t>
            </a:r>
            <a:endParaRPr sz="3200">
              <a:solidFill>
                <a:srgbClr val="032348"/>
              </a:solidFill>
            </a:endParaRPr>
          </a:p>
        </p:txBody>
      </p:sp>
      <p:sp>
        <p:nvSpPr>
          <p:cNvPr id="230" name="Google Shape;230;p29"/>
          <p:cNvSpPr txBox="1"/>
          <p:nvPr/>
        </p:nvSpPr>
        <p:spPr>
          <a:xfrm>
            <a:off x="726644" y="1808528"/>
            <a:ext cx="10158474" cy="39703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⇒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saves everything; command, output and most recommended. Save history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⇒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saves commands and objects and save image # just saves the objects in the workspace .</a:t>
            </a:r>
            <a:endParaRPr/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⇒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Import dataset: importing external data from xx to RStudio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800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⇒"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Load Workspace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Load History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are options to open previously saved work.</a:t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Edit: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edit menu contains the standard functionality of undo, redo, </a:t>
            </a: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cut, copy, paste, ,find and replace, check spelling, word count, Clear output and /or console. </a:t>
            </a:r>
            <a:endParaRPr/>
          </a:p>
          <a:p>
            <a:pPr indent="0" lvl="1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3. Code: </a:t>
            </a: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code menu contains options for insert chunk, jump to,  go to file/function,  show document outlines/diagnostics/diagnostic project, extract variable/function, comment/uncomment/reindent/run  lines, and source.</a:t>
            </a:r>
            <a:endParaRPr/>
          </a:p>
          <a:p>
            <a:pPr indent="0" lvl="1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02173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9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0"/>
          <p:cNvSpPr/>
          <p:nvPr/>
        </p:nvSpPr>
        <p:spPr>
          <a:xfrm>
            <a:off x="1104754" y="5350136"/>
            <a:ext cx="9447132" cy="1143069"/>
          </a:xfrm>
          <a:prstGeom prst="snip1Rect">
            <a:avLst>
              <a:gd fmla="val 16667" name="adj"/>
            </a:avLst>
          </a:prstGeom>
          <a:gradFill>
            <a:gsLst>
              <a:gs pos="0">
                <a:srgbClr val="C9DBB5"/>
              </a:gs>
              <a:gs pos="100000">
                <a:srgbClr val="8DC55D"/>
              </a:gs>
            </a:gsLst>
            <a:lin ang="5400000" scaled="0"/>
          </a:gradFill>
          <a:ln cap="rnd" cmpd="sng" w="9525">
            <a:solidFill>
              <a:srgbClr val="A2BB87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8" name="Google Shape;238;p30"/>
          <p:cNvSpPr txBox="1"/>
          <p:nvPr>
            <p:ph type="title"/>
          </p:nvPr>
        </p:nvSpPr>
        <p:spPr>
          <a:xfrm>
            <a:off x="2454491" y="897736"/>
            <a:ext cx="6937032" cy="5555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Century Gothic"/>
              <a:buNone/>
            </a:pPr>
            <a:r>
              <a:rPr i="1" lang="en-US" sz="2400">
                <a:solidFill>
                  <a:srgbClr val="FF0000"/>
                </a:solidFill>
              </a:rPr>
              <a:t>CONT’D…</a:t>
            </a:r>
            <a:endParaRPr/>
          </a:p>
        </p:txBody>
      </p:sp>
      <p:sp>
        <p:nvSpPr>
          <p:cNvPr id="239" name="Google Shape;239;p30"/>
          <p:cNvSpPr txBox="1"/>
          <p:nvPr/>
        </p:nvSpPr>
        <p:spPr>
          <a:xfrm>
            <a:off x="961768" y="4010859"/>
            <a:ext cx="9071917" cy="11430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5. Plots: </a:t>
            </a: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plot menu contains options for show, save, and remove plots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0"/>
          <p:cNvSpPr txBox="1"/>
          <p:nvPr/>
        </p:nvSpPr>
        <p:spPr>
          <a:xfrm>
            <a:off x="961768" y="2043215"/>
            <a:ext cx="9071916" cy="20712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4. View:  in this drop down menu we can modify the size of panes, taps, positions … etc. The view menu contains options for </a:t>
            </a:r>
            <a:r>
              <a:rPr b="0" i="0"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show/hide panes,</a:t>
            </a: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zoom, switch to/next/previous/first and last tabs, move focus to xx , show history/files/packages…etc.</a:t>
            </a:r>
            <a:endParaRPr/>
          </a:p>
        </p:txBody>
      </p:sp>
      <p:sp>
        <p:nvSpPr>
          <p:cNvPr id="241" name="Google Shape;241;p30"/>
          <p:cNvSpPr txBox="1"/>
          <p:nvPr/>
        </p:nvSpPr>
        <p:spPr>
          <a:xfrm>
            <a:off x="1104754" y="5290066"/>
            <a:ext cx="9071916" cy="11430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Session: 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session menu contains options for new and quit sessions, interrupt, terminate, restart R, setwd(), load, save, and clear workspace. 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/>
          <p:nvPr/>
        </p:nvSpPr>
        <p:spPr>
          <a:xfrm>
            <a:off x="961768" y="4847938"/>
            <a:ext cx="9357889" cy="798286"/>
          </a:xfrm>
          <a:prstGeom prst="snip1Rect">
            <a:avLst>
              <a:gd fmla="val 16667" name="adj"/>
            </a:avLst>
          </a:prstGeom>
          <a:gradFill>
            <a:gsLst>
              <a:gs pos="0">
                <a:srgbClr val="C9DBB5"/>
              </a:gs>
              <a:gs pos="100000">
                <a:srgbClr val="8DC55D"/>
              </a:gs>
            </a:gsLst>
            <a:lin ang="5400000" scaled="0"/>
          </a:gradFill>
          <a:ln cap="rnd" cmpd="sng" w="9525">
            <a:solidFill>
              <a:srgbClr val="A2BB87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9" name="Google Shape;249;p31"/>
          <p:cNvSpPr txBox="1"/>
          <p:nvPr>
            <p:ph type="title"/>
          </p:nvPr>
        </p:nvSpPr>
        <p:spPr>
          <a:xfrm>
            <a:off x="2454491" y="897736"/>
            <a:ext cx="6937032" cy="5555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Century Gothic"/>
              <a:buNone/>
            </a:pPr>
            <a:r>
              <a:rPr i="1" lang="en-US" sz="2400">
                <a:solidFill>
                  <a:srgbClr val="FF0000"/>
                </a:solidFill>
              </a:rPr>
              <a:t>CONT’D…</a:t>
            </a:r>
            <a:endParaRPr/>
          </a:p>
        </p:txBody>
      </p:sp>
      <p:sp>
        <p:nvSpPr>
          <p:cNvPr id="250" name="Google Shape;250;p31"/>
          <p:cNvSpPr txBox="1"/>
          <p:nvPr/>
        </p:nvSpPr>
        <p:spPr>
          <a:xfrm>
            <a:off x="913795" y="2958064"/>
            <a:ext cx="907191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0" i="0"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 Debug: </a:t>
            </a: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debug menu contains options for  toggle and clear all breakpoints, execute next line, step into function, finish function continue/stop/helping debugging.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985831" y="2043215"/>
            <a:ext cx="9071916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7. Build: The build menu contains options for configure build tools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961768" y="4796372"/>
            <a:ext cx="90719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9. profile: 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profile menu contains options for start/stop/open/help profiling, profile selected lines.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1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2"/>
          <p:cNvSpPr txBox="1"/>
          <p:nvPr>
            <p:ph type="title"/>
          </p:nvPr>
        </p:nvSpPr>
        <p:spPr>
          <a:xfrm>
            <a:off x="2454491" y="897736"/>
            <a:ext cx="6937032" cy="5555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Century Gothic"/>
              <a:buNone/>
            </a:pPr>
            <a:r>
              <a:rPr i="1" lang="en-US" sz="2400">
                <a:solidFill>
                  <a:srgbClr val="FF0000"/>
                </a:solidFill>
              </a:rPr>
              <a:t>CONT’D…</a:t>
            </a:r>
            <a:endParaRPr/>
          </a:p>
        </p:txBody>
      </p:sp>
      <p:sp>
        <p:nvSpPr>
          <p:cNvPr id="260" name="Google Shape;260;p32"/>
          <p:cNvSpPr txBox="1"/>
          <p:nvPr/>
        </p:nvSpPr>
        <p:spPr>
          <a:xfrm>
            <a:off x="961768" y="3349822"/>
            <a:ext cx="9071917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11. Helps:</a:t>
            </a: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The help menu contains options for R help, about RStudio, community forum, and docs, markdown and roxygen quick reference, accessibility, cheat sheets, and diagnostics.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2"/>
          <p:cNvSpPr/>
          <p:nvPr/>
        </p:nvSpPr>
        <p:spPr>
          <a:xfrm>
            <a:off x="1013239" y="1968016"/>
            <a:ext cx="8968973" cy="943946"/>
          </a:xfrm>
          <a:prstGeom prst="snip1Rect">
            <a:avLst>
              <a:gd fmla="val 16667" name="adj"/>
            </a:avLst>
          </a:prstGeom>
          <a:gradFill>
            <a:gsLst>
              <a:gs pos="0">
                <a:srgbClr val="9DD933"/>
              </a:gs>
              <a:gs pos="100000">
                <a:srgbClr val="5A861A"/>
              </a:gs>
            </a:gsLst>
            <a:lin ang="5400000" scaled="0"/>
          </a:gradFill>
          <a:ln cap="rnd" cmpd="sng" w="9525">
            <a:solidFill>
              <a:srgbClr val="A2BB87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10. Tools: The view menu contains options for </a:t>
            </a:r>
            <a:r>
              <a:rPr b="0" i="0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install and update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packages, version control, shell, terminal, jobs, add-in, memory, help and modify keyboard shortcut, project and global options…etc.</a:t>
            </a:r>
            <a:endParaRPr/>
          </a:p>
        </p:txBody>
      </p:sp>
      <p:sp>
        <p:nvSpPr>
          <p:cNvPr id="263" name="Google Shape;263;p32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3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aumans"/>
              <a:buNone/>
            </a:pPr>
            <a:r>
              <a:rPr lang="en-US">
                <a:solidFill>
                  <a:schemeClr val="accent1"/>
                </a:solidFill>
                <a:latin typeface="Baumans"/>
                <a:ea typeface="Baumans"/>
                <a:cs typeface="Baumans"/>
                <a:sym typeface="Baumans"/>
              </a:rPr>
              <a:t>RSTUDIO LAYOUT OR PANES</a:t>
            </a:r>
            <a:endParaRPr/>
          </a:p>
        </p:txBody>
      </p:sp>
      <p:sp>
        <p:nvSpPr>
          <p:cNvPr id="269" name="Google Shape;269;p33"/>
          <p:cNvSpPr txBox="1"/>
          <p:nvPr>
            <p:ph idx="1" type="body"/>
          </p:nvPr>
        </p:nvSpPr>
        <p:spPr>
          <a:xfrm>
            <a:off x="831850" y="1886574"/>
            <a:ext cx="10515600" cy="45437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01600" lvl="1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Noto Sans Symbols"/>
              <a:buChar char="❖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Console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Here is where R actually evaluates code and get an immediate response.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type the code into the Source, and then send the code to the Console 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can type code directly into the console 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01600" lvl="1" marL="4572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❖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Source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source pane is where you create and edit ``R Scripts" - your collections of code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Equivalent of Do file editor in Stata</a:t>
            </a:r>
            <a:endParaRPr/>
          </a:p>
          <a:p>
            <a:pPr indent="-101600" lvl="2" marL="914400" rtl="0" algn="l">
              <a:spcBef>
                <a:spcPts val="1000"/>
              </a:spcBef>
              <a:spcAft>
                <a:spcPts val="0"/>
              </a:spcAft>
              <a:buSzPts val="1600"/>
              <a:buFont typeface="Noto Sans Symbols"/>
              <a:buChar char="⮚"/>
            </a:pPr>
            <a:r>
              <a:rPr lang="en-US"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Not open by default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sp>
        <p:nvSpPr>
          <p:cNvPr id="270" name="Google Shape;270;p33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pic>
        <p:nvPicPr>
          <p:cNvPr id="271" name="Google Shape;27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795" y="371240"/>
            <a:ext cx="1589809" cy="1361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>
            <p:ph type="title"/>
          </p:nvPr>
        </p:nvSpPr>
        <p:spPr>
          <a:xfrm>
            <a:off x="831850" y="713706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entury Gothic"/>
              <a:buNone/>
            </a:pPr>
            <a:r>
              <a:rPr lang="en-US"/>
              <a:t>CONT’D…</a:t>
            </a:r>
            <a:endParaRPr/>
          </a:p>
        </p:txBody>
      </p:sp>
      <p:sp>
        <p:nvSpPr>
          <p:cNvPr id="277" name="Google Shape;277;p34"/>
          <p:cNvSpPr txBox="1"/>
          <p:nvPr>
            <p:ph idx="1" type="body"/>
          </p:nvPr>
        </p:nvSpPr>
        <p:spPr>
          <a:xfrm>
            <a:off x="838200" y="2070586"/>
            <a:ext cx="10515600" cy="49502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11760" lvl="1" marL="457200" rtl="0" algn="l">
              <a:spcBef>
                <a:spcPts val="0"/>
              </a:spcBef>
              <a:spcAft>
                <a:spcPts val="0"/>
              </a:spcAft>
              <a:buSzPts val="1760"/>
              <a:buFont typeface="Noto Sans Symbols"/>
              <a:buChar char="❖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Environment</a:t>
            </a:r>
            <a:endParaRPr/>
          </a:p>
          <a:p>
            <a:pPr indent="-111760" lvl="2" marL="9144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This pane includes by default environment/history/connection/tutorial tabs.</a:t>
            </a:r>
            <a:endParaRPr/>
          </a:p>
          <a:p>
            <a:pPr indent="-111760" lvl="2" marL="9144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Shows the names of all the data objects</a:t>
            </a:r>
            <a:endParaRPr/>
          </a:p>
          <a:p>
            <a:pPr indent="-111760" lvl="2" marL="9144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shows a history of all the code previously evaluated .</a:t>
            </a:r>
            <a:endParaRPr/>
          </a:p>
          <a:p>
            <a:pPr indent="-111760" lvl="2" marL="9144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clickable actions like “Import Dataset"  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1760" lvl="1" marL="4572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❖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File/Plot/Packages/Viewer/Etc.…</a:t>
            </a:r>
            <a:endParaRPr/>
          </a:p>
          <a:p>
            <a:pPr indent="-342900" lvl="2" marL="11529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Show list, install , update, and remove packages</a:t>
            </a:r>
            <a:endParaRPr/>
          </a:p>
          <a:p>
            <a:pPr indent="-342900" lvl="2" marL="1152900" rtl="0" algn="l">
              <a:spcBef>
                <a:spcPts val="1040"/>
              </a:spcBef>
              <a:spcAft>
                <a:spcPts val="0"/>
              </a:spcAft>
              <a:buSzPts val="1760"/>
              <a:buFont typeface="Noto Sans Symbols"/>
              <a:buChar char="⮚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access to the file directory  and shows all your plots</a:t>
            </a:r>
            <a:endParaRPr/>
          </a:p>
          <a:p>
            <a:pPr indent="-285750" lvl="2" marL="1095750" rtl="0" algn="l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 tabs for R functions. 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810000" rtl="0" algn="l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2" marL="810000" rtl="0" algn="l"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2000">
              <a:solidFill>
                <a:srgbClr val="22C4E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sp>
        <p:nvSpPr>
          <p:cNvPr id="278" name="Google Shape;278;p34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pic>
        <p:nvPicPr>
          <p:cNvPr id="279" name="Google Shape;27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850" y="369074"/>
            <a:ext cx="1589809" cy="1361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5"/>
          <p:cNvSpPr txBox="1"/>
          <p:nvPr>
            <p:ph type="title"/>
          </p:nvPr>
        </p:nvSpPr>
        <p:spPr>
          <a:xfrm>
            <a:off x="831850" y="781050"/>
            <a:ext cx="10515600" cy="7016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Baumans"/>
              <a:buNone/>
            </a:pPr>
            <a:r>
              <a:rPr lang="en-US">
                <a:solidFill>
                  <a:schemeClr val="accent1"/>
                </a:solidFill>
                <a:latin typeface="Baumans"/>
                <a:ea typeface="Baumans"/>
                <a:cs typeface="Baumans"/>
                <a:sym typeface="Baumans"/>
              </a:rPr>
              <a:t>4 PRIMARY WINDOWS</a:t>
            </a:r>
            <a:endParaRPr/>
          </a:p>
        </p:txBody>
      </p:sp>
      <p:sp>
        <p:nvSpPr>
          <p:cNvPr id="285" name="Google Shape;285;p35"/>
          <p:cNvSpPr txBox="1"/>
          <p:nvPr>
            <p:ph idx="1" type="body"/>
          </p:nvPr>
        </p:nvSpPr>
        <p:spPr>
          <a:xfrm>
            <a:off x="993286" y="2959593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/>
          </a:p>
        </p:txBody>
      </p:sp>
      <p:sp>
        <p:nvSpPr>
          <p:cNvPr id="286" name="Google Shape;286;p35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287" name="Google Shape;287;p35"/>
          <p:cNvSpPr txBox="1"/>
          <p:nvPr>
            <p:ph idx="2" type="body"/>
          </p:nvPr>
        </p:nvSpPr>
        <p:spPr>
          <a:xfrm>
            <a:off x="830066" y="1898650"/>
            <a:ext cx="10515599" cy="70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  <p:sp>
        <p:nvSpPr>
          <p:cNvPr id="288" name="Google Shape;288;p35"/>
          <p:cNvSpPr txBox="1"/>
          <p:nvPr>
            <p:ph idx="3" type="body"/>
          </p:nvPr>
        </p:nvSpPr>
        <p:spPr>
          <a:xfrm>
            <a:off x="6155960" y="2959593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t/>
            </a:r>
            <a:endParaRPr/>
          </a:p>
        </p:txBody>
      </p:sp>
      <p:sp>
        <p:nvSpPr>
          <p:cNvPr id="289" name="Google Shape;289;p35"/>
          <p:cNvSpPr txBox="1"/>
          <p:nvPr>
            <p:ph idx="4" type="body"/>
          </p:nvPr>
        </p:nvSpPr>
        <p:spPr>
          <a:xfrm>
            <a:off x="811311" y="3294245"/>
            <a:ext cx="4365625" cy="2333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08880" lvl="0" marL="1800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  <p:sp>
        <p:nvSpPr>
          <p:cNvPr id="290" name="Google Shape;290;p35"/>
          <p:cNvSpPr txBox="1"/>
          <p:nvPr>
            <p:ph idx="5" type="body"/>
          </p:nvPr>
        </p:nvSpPr>
        <p:spPr>
          <a:xfrm>
            <a:off x="5973985" y="3294245"/>
            <a:ext cx="4365625" cy="2333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08880" lvl="0" marL="1800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  <p:pic>
        <p:nvPicPr>
          <p:cNvPr id="291" name="Google Shape;29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512" y="1810510"/>
            <a:ext cx="12088975" cy="5047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5"/>
          <p:cNvSpPr/>
          <p:nvPr/>
        </p:nvSpPr>
        <p:spPr>
          <a:xfrm>
            <a:off x="2569028" y="2654859"/>
            <a:ext cx="1210124" cy="334652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6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SOURCE</a:t>
            </a:r>
            <a:endParaRPr/>
          </a:p>
        </p:txBody>
      </p:sp>
      <p:sp>
        <p:nvSpPr>
          <p:cNvPr id="293" name="Google Shape;293;p35"/>
          <p:cNvSpPr/>
          <p:nvPr/>
        </p:nvSpPr>
        <p:spPr>
          <a:xfrm>
            <a:off x="2895243" y="5112654"/>
            <a:ext cx="2423886" cy="420875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6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CONSOLE</a:t>
            </a:r>
            <a:endParaRPr/>
          </a:p>
        </p:txBody>
      </p:sp>
      <p:sp>
        <p:nvSpPr>
          <p:cNvPr id="294" name="Google Shape;294;p35"/>
          <p:cNvSpPr/>
          <p:nvPr/>
        </p:nvSpPr>
        <p:spPr>
          <a:xfrm>
            <a:off x="7800427" y="4807466"/>
            <a:ext cx="2873366" cy="555171"/>
          </a:xfrm>
          <a:prstGeom prst="snip2DiagRect">
            <a:avLst>
              <a:gd fmla="val 0" name="adj1"/>
              <a:gd fmla="val 16667" name="adj2"/>
            </a:avLst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66"/>
                </a:solidFill>
                <a:latin typeface="Baumans"/>
                <a:ea typeface="Baumans"/>
                <a:cs typeface="Baumans"/>
                <a:sym typeface="Baumans"/>
              </a:rPr>
              <a:t>File/Plots/Packages/...</a:t>
            </a:r>
            <a:endParaRPr/>
          </a:p>
        </p:txBody>
      </p:sp>
      <p:sp>
        <p:nvSpPr>
          <p:cNvPr id="295" name="Google Shape;295;p35"/>
          <p:cNvSpPr/>
          <p:nvPr/>
        </p:nvSpPr>
        <p:spPr>
          <a:xfrm>
            <a:off x="2569028" y="3790452"/>
            <a:ext cx="3744685" cy="724393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the code here and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hit the run tab to evaluate the code </a:t>
            </a:r>
            <a:endParaRPr/>
          </a:p>
        </p:txBody>
      </p:sp>
      <p:sp>
        <p:nvSpPr>
          <p:cNvPr id="296" name="Google Shape;296;p35"/>
          <p:cNvSpPr/>
          <p:nvPr/>
        </p:nvSpPr>
        <p:spPr>
          <a:xfrm>
            <a:off x="2140499" y="5962522"/>
            <a:ext cx="2917371" cy="61137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where the code from the source is evaluated by R</a:t>
            </a:r>
            <a:endParaRPr/>
          </a:p>
        </p:txBody>
      </p:sp>
      <p:sp>
        <p:nvSpPr>
          <p:cNvPr id="297" name="Google Shape;297;p35"/>
          <p:cNvSpPr/>
          <p:nvPr/>
        </p:nvSpPr>
        <p:spPr>
          <a:xfrm>
            <a:off x="8156797" y="3088517"/>
            <a:ext cx="3585260" cy="851265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to view object in workspace and command history</a:t>
            </a:r>
            <a:endParaRPr/>
          </a:p>
        </p:txBody>
      </p:sp>
      <p:cxnSp>
        <p:nvCxnSpPr>
          <p:cNvPr id="298" name="Google Shape;298;p35"/>
          <p:cNvCxnSpPr/>
          <p:nvPr/>
        </p:nvCxnSpPr>
        <p:spPr>
          <a:xfrm rot="10800000">
            <a:off x="4673600" y="2610289"/>
            <a:ext cx="0" cy="310651"/>
          </a:xfrm>
          <a:prstGeom prst="straightConnector1">
            <a:avLst/>
          </a:prstGeom>
          <a:noFill/>
          <a:ln cap="rnd" cmpd="sng" w="9525">
            <a:solidFill>
              <a:srgbClr val="BF86BD">
                <a:alpha val="60000"/>
              </a:srgbClr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9" name="Google Shape;299;p35"/>
          <p:cNvSpPr/>
          <p:nvPr/>
        </p:nvSpPr>
        <p:spPr>
          <a:xfrm>
            <a:off x="4040569" y="2920940"/>
            <a:ext cx="1917782" cy="468124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 it to send code to evaluate </a:t>
            </a:r>
            <a:endParaRPr/>
          </a:p>
        </p:txBody>
      </p:sp>
      <p:sp>
        <p:nvSpPr>
          <p:cNvPr id="300" name="Google Shape;300;p35"/>
          <p:cNvSpPr/>
          <p:nvPr/>
        </p:nvSpPr>
        <p:spPr>
          <a:xfrm>
            <a:off x="8450112" y="2399652"/>
            <a:ext cx="3585260" cy="596984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006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Environment/History/tutorial/…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7800427" y="5512227"/>
            <a:ext cx="3545237" cy="809563"/>
          </a:xfrm>
          <a:prstGeom prst="rect">
            <a:avLst/>
          </a:prstGeom>
          <a:solidFill>
            <a:schemeClr val="lt1"/>
          </a:solidFill>
          <a:ln cap="rnd" cmpd="sng" w="15875">
            <a:solidFill>
              <a:srgbClr val="C622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also view file in the file directory, plots, packages, and R helps</a:t>
            </a:r>
            <a:endParaRPr/>
          </a:p>
        </p:txBody>
      </p:sp>
      <p:pic>
        <p:nvPicPr>
          <p:cNvPr id="302" name="Google Shape;302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2218" y="386638"/>
            <a:ext cx="1591194" cy="135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Baumans"/>
              <a:buNone/>
            </a:pPr>
            <a:r>
              <a:rPr b="0" lang="en-US" sz="3000" cap="none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WORKSPACE AND RSTUDIO PROJECT MANAGEMENT </a:t>
            </a:r>
            <a:endParaRPr sz="3000">
              <a:solidFill>
                <a:srgbClr val="FF0000"/>
              </a:solidFill>
              <a:latin typeface="Baumans"/>
              <a:ea typeface="Baumans"/>
              <a:cs typeface="Baumans"/>
              <a:sym typeface="Baumans"/>
            </a:endParaRPr>
          </a:p>
        </p:txBody>
      </p:sp>
      <p:sp>
        <p:nvSpPr>
          <p:cNvPr id="308" name="Google Shape;308;p36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09" name="Google Shape;309;p36"/>
          <p:cNvSpPr txBox="1"/>
          <p:nvPr>
            <p:ph idx="4" type="body"/>
          </p:nvPr>
        </p:nvSpPr>
        <p:spPr>
          <a:xfrm>
            <a:off x="925611" y="1897245"/>
            <a:ext cx="4365625" cy="373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0000" lvl="0" marL="1800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getwd() # shows the working directory</a:t>
            </a:r>
            <a:endParaRPr/>
          </a:p>
          <a:p>
            <a:pPr indent="-180000" lvl="0" marL="1800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lits.d() # lists the working directory</a:t>
            </a:r>
            <a:endParaRPr/>
          </a:p>
          <a:p>
            <a:pPr indent="-180000" lvl="0" marL="1800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setwd() # sets the working directory</a:t>
            </a:r>
            <a:endParaRPr/>
          </a:p>
          <a:p>
            <a:pPr indent="-180000" lvl="0" marL="1800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choose.dir() # will prompt you to choose your directory (interactive) </a:t>
            </a:r>
            <a:endParaRPr/>
          </a:p>
          <a:p>
            <a:pPr indent="-108880" lvl="0" marL="180000" rtl="0" algn="l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  <p:sp>
        <p:nvSpPr>
          <p:cNvPr id="310" name="Google Shape;310;p36"/>
          <p:cNvSpPr txBox="1"/>
          <p:nvPr>
            <p:ph idx="5" type="body"/>
          </p:nvPr>
        </p:nvSpPr>
        <p:spPr>
          <a:xfrm>
            <a:off x="6338887" y="1897244"/>
            <a:ext cx="4365625" cy="3730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80000" lvl="0" marL="1800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setwd(“D:</a:t>
            </a:r>
            <a:r>
              <a:rPr b="1"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RTraining/”) # this changes the wd Observe the forward slash or use double backslash. </a:t>
            </a:r>
            <a:endParaRPr/>
          </a:p>
          <a:p>
            <a:pPr indent="-180000" lvl="0" marL="1800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Setwd(“D:\\RTraining\\”) # same like above</a:t>
            </a:r>
            <a:endParaRPr/>
          </a:p>
          <a:p>
            <a:pPr indent="-180000" lvl="0" marL="1800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dir() # lists files in the working directory</a:t>
            </a:r>
            <a:endParaRPr/>
          </a:p>
          <a:p>
            <a:pPr indent="-180000" lvl="0" marL="180000" rtl="0" algn="just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760"/>
              <a:buFont typeface="Cambria Math"/>
              <a:buChar char="⟹"/>
            </a:pPr>
            <a:r>
              <a:rPr lang="en-US" sz="2200">
                <a:latin typeface="Calibri"/>
                <a:ea typeface="Calibri"/>
                <a:cs typeface="Calibri"/>
                <a:sym typeface="Calibri"/>
              </a:rPr>
              <a:t>    list.files() # </a:t>
            </a:r>
            <a:r>
              <a:rPr lang="en-US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lists files in the working directory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7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 sz="4000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TO CREATE AN R PROJECT, GO TO:</a:t>
            </a:r>
            <a:endParaRPr>
              <a:solidFill>
                <a:srgbClr val="FF0000"/>
              </a:solidFill>
              <a:latin typeface="Baumans"/>
              <a:ea typeface="Baumans"/>
              <a:cs typeface="Baumans"/>
              <a:sym typeface="Baumans"/>
            </a:endParaRPr>
          </a:p>
        </p:txBody>
      </p:sp>
      <p:sp>
        <p:nvSpPr>
          <p:cNvPr id="316" name="Google Shape;316;p37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17" name="Google Shape;317;p37"/>
          <p:cNvSpPr txBox="1"/>
          <p:nvPr>
            <p:ph idx="4" type="body"/>
          </p:nvPr>
        </p:nvSpPr>
        <p:spPr>
          <a:xfrm>
            <a:off x="831850" y="1805080"/>
            <a:ext cx="10515599" cy="42718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0000" lvl="0" marL="1800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ambria Math"/>
              <a:buChar char="⟹"/>
            </a:pPr>
            <a:r>
              <a:rPr b="1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File &gt; New Project and then choose: New Directory&gt; Name for the directory &gt; Click on Create Project.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ambria Math"/>
              <a:buChar char="⟹"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Or in the top right corner press the create project tab &gt; New Project and then choose: New Directory&gt; Name for the directory &gt; Click on Create Project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ambria Math"/>
              <a:buChar char="⟹"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Or in the top left corner press the project(none) icon &gt; New Project and then choose: New Directory&gt; Name for the directory &gt; Click on Create Project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ambria Math"/>
              <a:buChar char="⟹"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can also create via this syntax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install.packages(“prodigenr”) # to install this package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&gt;Library(</a:t>
            </a: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prodigenr</a:t>
            </a: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 # to call the package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40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setup_project(“ the path of the work directory")</a:t>
            </a:r>
            <a:endParaRPr b="1"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440"/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 more complex project it may be useful to create sub-directories to contain data, scripts and other documents separately. Can also type the below function into the Console, but we won't do that in this session.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2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8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Baumans"/>
              <a:buNone/>
            </a:pPr>
            <a:r>
              <a:rPr lang="en-US" sz="2800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DATA PERMANENCY AND REMOVING OBJECTS</a:t>
            </a:r>
            <a:endParaRPr/>
          </a:p>
        </p:txBody>
      </p:sp>
      <p:sp>
        <p:nvSpPr>
          <p:cNvPr id="323" name="Google Shape;323;p38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24" name="Google Shape;324;p38"/>
          <p:cNvSpPr txBox="1"/>
          <p:nvPr>
            <p:ph idx="4" type="body"/>
          </p:nvPr>
        </p:nvSpPr>
        <p:spPr>
          <a:xfrm>
            <a:off x="831850" y="1805079"/>
            <a:ext cx="7231977" cy="413852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08880" lvl="0" marL="1800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 b="1" i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08880" lvl="0" marL="18000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 b="1" i="0">
              <a:solidFill>
                <a:srgbClr val="66666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08880" lvl="0" marL="180000" rtl="0" algn="l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  <p:sp>
        <p:nvSpPr>
          <p:cNvPr id="325" name="Google Shape;325;p38"/>
          <p:cNvSpPr txBox="1"/>
          <p:nvPr/>
        </p:nvSpPr>
        <p:spPr>
          <a:xfrm>
            <a:off x="831850" y="1852808"/>
            <a:ext cx="10515600" cy="39703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entities that R creates and manipulates are known as objects. These may be variables, arrays of numbers, character strings, functions, or more general structures built from such components.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During an R session, objects are created and stored by name (we discuss this process in the next section). The R command</a:t>
            </a:r>
            <a:endParaRPr/>
          </a:p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display the names of (most of) the objects which are currently stored within R.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1" marL="7429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objects()</a:t>
            </a:r>
            <a:endParaRPr/>
          </a:p>
          <a:p>
            <a:pPr indent="-285750" lvl="1" marL="7429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ls()</a:t>
            </a:r>
            <a:endParaRPr/>
          </a:p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remove objects the function rm is available:</a:t>
            </a:r>
            <a:endParaRPr/>
          </a:p>
          <a:p>
            <a:pPr indent="-285750" lvl="1" marL="7429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rm()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remove all the objects in R type:</a:t>
            </a:r>
            <a:endParaRPr/>
          </a:p>
          <a:p>
            <a:pPr indent="-285750" lvl="1" marL="7429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rm(list=ls(all=T))</a:t>
            </a:r>
            <a:endParaRPr/>
          </a:p>
          <a:p>
            <a:pPr indent="-1714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9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DATA STRUCTURE AND TYPES</a:t>
            </a:r>
            <a:endParaRPr/>
          </a:p>
        </p:txBody>
      </p:sp>
      <p:sp>
        <p:nvSpPr>
          <p:cNvPr id="331" name="Google Shape;331;p39"/>
          <p:cNvSpPr txBox="1"/>
          <p:nvPr>
            <p:ph idx="1" type="body"/>
          </p:nvPr>
        </p:nvSpPr>
        <p:spPr>
          <a:xfrm>
            <a:off x="1070759" y="1846386"/>
            <a:ext cx="4183650" cy="4788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760"/>
              <a:buNone/>
            </a:pPr>
            <a:r>
              <a:rPr b="1" i="0" lang="en-US"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Basic data type in R 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9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33" name="Google Shape;333;p39"/>
          <p:cNvSpPr txBox="1"/>
          <p:nvPr>
            <p:ph idx="3" type="body"/>
          </p:nvPr>
        </p:nvSpPr>
        <p:spPr>
          <a:xfrm>
            <a:off x="5973985" y="1846385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rPr b="1" i="0"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Basic data </a:t>
            </a:r>
            <a:r>
              <a:rPr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</a:t>
            </a:r>
            <a:r>
              <a:rPr b="1" i="0"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tructures in R 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9"/>
          <p:cNvSpPr txBox="1"/>
          <p:nvPr>
            <p:ph idx="4" type="body"/>
          </p:nvPr>
        </p:nvSpPr>
        <p:spPr>
          <a:xfrm>
            <a:off x="763095" y="2211510"/>
            <a:ext cx="4365625" cy="2339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0000" lvl="0" marL="1800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Logical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0000" lvl="0" marL="1800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Numeric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0000" lvl="0" marL="1800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Integer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0000" lvl="0" marL="1800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Character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0000" lvl="0" marL="1800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Complex</a:t>
            </a:r>
            <a:endParaRPr/>
          </a:p>
          <a:p>
            <a:pPr indent="-180000" lvl="0" marL="1800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Courier New"/>
              <a:buChar char="o"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Raw 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08880" lvl="0" marL="180000" rtl="0" algn="l">
              <a:spcBef>
                <a:spcPts val="140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  <p:sp>
        <p:nvSpPr>
          <p:cNvPr id="335" name="Google Shape;335;p39"/>
          <p:cNvSpPr txBox="1"/>
          <p:nvPr>
            <p:ph idx="5" type="body"/>
          </p:nvPr>
        </p:nvSpPr>
        <p:spPr>
          <a:xfrm>
            <a:off x="5792010" y="2004983"/>
            <a:ext cx="4365625" cy="2333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✔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Vector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✔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Factor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✔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✔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Matrix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✔"/>
            </a:pPr>
            <a:r>
              <a:rPr b="0" i="0"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frame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08880" lvl="0" marL="180000" rtl="0" algn="l">
              <a:spcBef>
                <a:spcPts val="1400"/>
              </a:spcBef>
              <a:spcAft>
                <a:spcPts val="0"/>
              </a:spcAft>
              <a:buClr>
                <a:schemeClr val="accent3"/>
              </a:buClr>
              <a:buSzPts val="112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0"/>
          <p:cNvSpPr txBox="1"/>
          <p:nvPr>
            <p:ph idx="1" type="body"/>
          </p:nvPr>
        </p:nvSpPr>
        <p:spPr>
          <a:xfrm>
            <a:off x="2740428" y="1922460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rPr lang="en-US">
                <a:solidFill>
                  <a:schemeClr val="lt1"/>
                </a:solidFill>
              </a:rPr>
              <a:t>functions</a:t>
            </a:r>
            <a:endParaRPr/>
          </a:p>
        </p:txBody>
      </p:sp>
      <p:sp>
        <p:nvSpPr>
          <p:cNvPr id="341" name="Google Shape;341;p40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42" name="Google Shape;342;p40"/>
          <p:cNvSpPr txBox="1"/>
          <p:nvPr>
            <p:ph idx="2" type="body"/>
          </p:nvPr>
        </p:nvSpPr>
        <p:spPr>
          <a:xfrm>
            <a:off x="765905" y="724434"/>
            <a:ext cx="10515599" cy="70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2880"/>
              <a:buNone/>
            </a:pPr>
            <a:r>
              <a:rPr lang="en-US" sz="3600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examines features of vectors  and other objects</a:t>
            </a:r>
            <a:endParaRPr/>
          </a:p>
        </p:txBody>
      </p:sp>
      <p:sp>
        <p:nvSpPr>
          <p:cNvPr id="343" name="Google Shape;343;p40"/>
          <p:cNvSpPr txBox="1"/>
          <p:nvPr>
            <p:ph idx="3" type="body"/>
          </p:nvPr>
        </p:nvSpPr>
        <p:spPr>
          <a:xfrm>
            <a:off x="6114692" y="1889918"/>
            <a:ext cx="41836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rPr lang="en-US">
                <a:solidFill>
                  <a:schemeClr val="lt1"/>
                </a:solidFill>
              </a:rPr>
              <a:t>purpose</a:t>
            </a:r>
            <a:endParaRPr/>
          </a:p>
        </p:txBody>
      </p:sp>
      <p:sp>
        <p:nvSpPr>
          <p:cNvPr id="344" name="Google Shape;344;p40"/>
          <p:cNvSpPr txBox="1"/>
          <p:nvPr>
            <p:ph idx="4" type="body"/>
          </p:nvPr>
        </p:nvSpPr>
        <p:spPr>
          <a:xfrm>
            <a:off x="2649440" y="2306902"/>
            <a:ext cx="4365625" cy="38134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80000" lvl="0" marL="1800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class()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typeof()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</a:pPr>
            <a:r>
              <a:t/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mode()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length()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attribute()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Str()</a:t>
            </a:r>
            <a:endParaRPr/>
          </a:p>
        </p:txBody>
      </p:sp>
      <p:sp>
        <p:nvSpPr>
          <p:cNvPr id="345" name="Google Shape;345;p40"/>
          <p:cNvSpPr txBox="1"/>
          <p:nvPr>
            <p:ph idx="5" type="body"/>
          </p:nvPr>
        </p:nvSpPr>
        <p:spPr>
          <a:xfrm>
            <a:off x="5299804" y="2718852"/>
            <a:ext cx="4365625" cy="35639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80000" lvl="0" marL="1800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What kinds of object is it(high level)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What is the object’s data type(low-level)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What is the object’s data type(often the same as typeof())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How long is it?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Does it have any metadata</a:t>
            </a:r>
            <a:endParaRPr/>
          </a:p>
          <a:p>
            <a:pPr indent="-1800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⮑"/>
            </a:pP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What is structure of the object?</a:t>
            </a:r>
            <a:endParaRPr/>
          </a:p>
          <a:p>
            <a:pPr indent="-78400" lvl="0" marL="1800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None/>
            </a:pPr>
            <a:r>
              <a:t/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1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CONT’D…</a:t>
            </a:r>
            <a:endParaRPr/>
          </a:p>
        </p:txBody>
      </p:sp>
      <p:sp>
        <p:nvSpPr>
          <p:cNvPr id="351" name="Google Shape;351;p41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52" name="Google Shape;352;p41"/>
          <p:cNvSpPr txBox="1"/>
          <p:nvPr>
            <p:ph idx="2" type="body"/>
          </p:nvPr>
        </p:nvSpPr>
        <p:spPr>
          <a:xfrm>
            <a:off x="830066" y="1711233"/>
            <a:ext cx="10515599" cy="4826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type can be converted from one to other using as.something() and can be checked using is.something() code.</a:t>
            </a:r>
            <a:endParaRPr/>
          </a:p>
          <a:p>
            <a:pPr indent="0" lvl="0" marL="0" rtl="0" algn="just">
              <a:spcBef>
                <a:spcPts val="1080"/>
              </a:spcBef>
              <a:spcAft>
                <a:spcPts val="0"/>
              </a:spcAft>
              <a:buSzPts val="1920"/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Vectors and assignment </a:t>
            </a:r>
            <a:endParaRPr/>
          </a:p>
          <a:p>
            <a:pPr indent="0" lvl="0" marL="0" marR="0" rtl="0" algn="just">
              <a:spcBef>
                <a:spcPts val="1500"/>
              </a:spcBef>
              <a:spcAft>
                <a:spcPts val="0"/>
              </a:spcAft>
              <a:buSzPts val="1440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Assignment can be made using any of the following operators.</a:t>
            </a:r>
            <a:endParaRPr/>
          </a:p>
          <a:p>
            <a:pPr indent="-285750" lvl="0" marL="285750" marR="0" rtl="0" algn="l">
              <a:spcBef>
                <a:spcPts val="900"/>
              </a:spcBef>
              <a:spcAft>
                <a:spcPts val="0"/>
              </a:spcAft>
              <a:buSzPts val="1440"/>
              <a:buFont typeface="Calibri"/>
              <a:buChar char="❶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&lt;- 7 </a:t>
            </a:r>
            <a:r>
              <a:rPr lang="en-US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# keyboard shortcut for the operator &lt;- “alt + -”</a:t>
            </a:r>
            <a:endParaRPr/>
          </a:p>
          <a:p>
            <a:pPr indent="-285750" lvl="0" marL="285750" marR="0" rtl="0" algn="l">
              <a:spcBef>
                <a:spcPts val="1000"/>
              </a:spcBef>
              <a:spcAft>
                <a:spcPts val="0"/>
              </a:spcAft>
              <a:buSzPts val="1440"/>
              <a:buFont typeface="Calibri"/>
              <a:buChar char="❷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a=7</a:t>
            </a:r>
            <a:endParaRPr/>
          </a:p>
          <a:p>
            <a:pPr indent="-285750" lvl="0" marL="285750" marR="0" rtl="0" algn="l">
              <a:spcBef>
                <a:spcPts val="1000"/>
              </a:spcBef>
              <a:spcAft>
                <a:spcPts val="0"/>
              </a:spcAft>
              <a:buSzPts val="1440"/>
              <a:buFont typeface="Calibri"/>
              <a:buChar char="❸"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assign(“a”,7)</a:t>
            </a:r>
            <a:endParaRPr/>
          </a:p>
          <a:p>
            <a:pPr indent="-285750" lvl="0" marL="285750" marR="0" rtl="0" algn="l">
              <a:spcBef>
                <a:spcPts val="1000"/>
              </a:spcBef>
              <a:spcAft>
                <a:spcPts val="0"/>
              </a:spcAft>
              <a:buSzPts val="1440"/>
              <a:buFont typeface="Calibri"/>
              <a:buChar char="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7-&gt;a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1480"/>
              </a:spcBef>
              <a:spcAft>
                <a:spcPts val="0"/>
              </a:spcAft>
              <a:buSzPts val="1920"/>
              <a:buNone/>
            </a:pPr>
            <a:r>
              <a:t/>
            </a:r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80"/>
              </a:spcBef>
              <a:spcAft>
                <a:spcPts val="0"/>
              </a:spcAft>
              <a:buSzPts val="1920"/>
              <a:buNone/>
            </a:pPr>
            <a:r>
              <a:t/>
            </a:r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80"/>
              </a:spcBef>
              <a:spcAft>
                <a:spcPts val="0"/>
              </a:spcAft>
              <a:buSzPts val="1920"/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2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VECTORS</a:t>
            </a:r>
            <a:endParaRPr/>
          </a:p>
        </p:txBody>
      </p:sp>
      <p:sp>
        <p:nvSpPr>
          <p:cNvPr id="358" name="Google Shape;358;p42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59" name="Google Shape;359;p42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Vectors are the simplest type of object in R. They can easily be created with c, the combined </a:t>
            </a:r>
            <a:endParaRPr/>
          </a:p>
          <a:p>
            <a:pPr indent="0" lvl="0" marL="0" rtl="0" algn="l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function.</a:t>
            </a:r>
            <a:endParaRPr/>
          </a:p>
          <a:p>
            <a:pPr indent="-285750" lvl="0" marL="285750" rtl="0" algn="l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There are 3 main types of vectors:</a:t>
            </a:r>
            <a:endParaRPr/>
          </a:p>
          <a:p>
            <a:pPr indent="-285750" lvl="0" marL="285750" rtl="0" algn="l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❑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Numeric vectors</a:t>
            </a:r>
            <a:endParaRPr/>
          </a:p>
          <a:p>
            <a:pPr indent="-285750" lvl="0" marL="285750" rtl="0" algn="l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❑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Character vectors</a:t>
            </a:r>
            <a:endParaRPr/>
          </a:p>
          <a:p>
            <a:pPr indent="-285750" lvl="0" marL="285750" rtl="0" algn="l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❑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Logical vectors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Numeric Vector: Is a single entity consisting of an ordered collection of numbers.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 x&lt;-c(10, 6, 3, 6, 22)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3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CHARACTER AND LOGICAL VECTOR</a:t>
            </a:r>
            <a:endParaRPr/>
          </a:p>
        </p:txBody>
      </p:sp>
      <p:sp>
        <p:nvSpPr>
          <p:cNvPr id="365" name="Google Shape;365;p43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16/10/2022</a:t>
            </a:r>
            <a:endParaRPr/>
          </a:p>
        </p:txBody>
      </p:sp>
      <p:sp>
        <p:nvSpPr>
          <p:cNvPr id="366" name="Google Shape;366;p43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just">
              <a:spcBef>
                <a:spcPts val="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Character strings are entered using either matching double(“ ") or single(' ') quotes, but are printed using double quotes(or sometimes without quotes).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set up a character/string vector z consisting of 3 place names use: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 &gt; z&lt;-c("Canberra","Sydney","Newcastle")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Or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&gt;z&lt;-c('Canberra','Sydney', 'Newcastle’)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Logical Vectors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logical vector is a vector whose elements are TRUE, FALSE or NA.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cat(is.na(z)) or print(is.na(z)) 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[1] FALSE FALSE FALSE TRUE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44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MATRICES</a:t>
            </a:r>
            <a:endParaRPr/>
          </a:p>
        </p:txBody>
      </p:sp>
      <p:sp>
        <p:nvSpPr>
          <p:cNvPr id="372" name="Google Shape;372;p44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14/10/2022</a:t>
            </a:r>
            <a:endParaRPr/>
          </a:p>
        </p:txBody>
      </p:sp>
      <p:sp>
        <p:nvSpPr>
          <p:cNvPr id="373" name="Google Shape;373;p44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just">
              <a:spcBef>
                <a:spcPts val="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Matrices a generalization of a vector with the same data type. A matrix can be generated in two ways.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1 Using the function dim 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&gt;x &lt;- c(1:8)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dim(x) &lt;- c(2,4)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2 Using the function matrix: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x &lt;- matrix(c(1:8),2,4,byrow=F)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Use the function cbind(</a:t>
            </a: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rbind</a:t>
            </a: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 to create a matrix by binding two or more vectors as column(</a:t>
            </a: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row</a:t>
            </a: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 vectors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5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ARRAYS</a:t>
            </a:r>
            <a:endParaRPr/>
          </a:p>
        </p:txBody>
      </p:sp>
      <p:sp>
        <p:nvSpPr>
          <p:cNvPr id="379" name="Google Shape;379;p45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380" name="Google Shape;380;p45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Arrays are generalizations of vectors and matrices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That means, vectors in the mathematical sense are one-dimensional arrays where as matrices are two-dimensional arrays; higher dimensions are also possible.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There are two methods of creating arrays in R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Method 1: Using vectors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vector can be used by R as an array only if it has a dimension vector as its dim attribute.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 array with dimension vector c(3,5,100) and a vector of 1500 elements.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z=c(1:1500)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dim(z) &lt;- c(3,5,100)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CONT’D…</a:t>
            </a:r>
            <a:endParaRPr/>
          </a:p>
        </p:txBody>
      </p:sp>
      <p:sp>
        <p:nvSpPr>
          <p:cNvPr id="386" name="Google Shape;386;p46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387" name="Google Shape;387;p46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Method 2: Using the function array()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 array with dimension vector c(3,5,100) and a vector of 1500 elements.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z=array(1:1500, dim= c(3,5,100))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Or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&gt;h&lt;-c(1:1500)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&gt;z&lt;- h ; dim(z) &lt;- c(3,5,100)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7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LIST</a:t>
            </a:r>
            <a:endParaRPr/>
          </a:p>
        </p:txBody>
      </p:sp>
      <p:sp>
        <p:nvSpPr>
          <p:cNvPr id="393" name="Google Shape;393;p47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394" name="Google Shape;394;p47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Lists: are collections of arbitrary objects. That is, the elements of a list can be objects of any type and structure. 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Lists are created with the list() function: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L&lt;-list(object-1,object-2,…,object-m)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&gt;L &lt;- list( c(1,5,3), matrix(1:6, nrow=3), c("Hello","world") 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elements of the list are accessed with the [[ ]]operator.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Examples: Consider the previous example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L[[1]]       # First element of L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8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C00000"/>
                </a:solidFill>
                <a:latin typeface="Baumans"/>
                <a:ea typeface="Baumans"/>
                <a:cs typeface="Baumans"/>
                <a:sym typeface="Baumans"/>
              </a:rPr>
              <a:t>DATA FRAMES</a:t>
            </a:r>
            <a:endParaRPr/>
          </a:p>
        </p:txBody>
      </p:sp>
      <p:sp>
        <p:nvSpPr>
          <p:cNvPr id="400" name="Google Shape;400;p48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01" name="Google Shape;401;p48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frames: regarded as an extension to matrices.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Data frames can have columns of different data types and are the most convenient data structure for data analysis in R.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frames are lists with the constraint that all elements are vectors of the same length.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The command data.frame() creates a data frame: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dat&lt;-data.frame(object-1,object-2,…,object-m)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name= c("Eden","Solomon","Zelalem","Kidist")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age=c(18,22,25,27)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sex=c("F","M","M","F")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9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C00000"/>
                </a:solidFill>
                <a:latin typeface="Baumans"/>
                <a:ea typeface="Baumans"/>
                <a:cs typeface="Baumans"/>
                <a:sym typeface="Baumans"/>
              </a:rPr>
              <a:t>CONT’D…</a:t>
            </a:r>
            <a:endParaRPr/>
          </a:p>
        </p:txBody>
      </p:sp>
      <p:sp>
        <p:nvSpPr>
          <p:cNvPr id="407" name="Google Shape;407;p49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08" name="Google Shape;408;p49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</a:rPr>
              <a:t>&gt; stud=data.frame(name,age,sex)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</a:rPr>
              <a:t>&gt; Stud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</a:rPr>
              <a:t>To display the column names: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</a:rPr>
              <a:t>&gt; names(stud)    #OR  colnames(stud)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display the row names: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&gt;rownames(stud)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change the column names: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&gt;names(stud)&lt;-c("name","age","sex")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change the row names: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&gt;row.names(stud)&lt;-("Wrt","Ato","Ato2","Wro")</a:t>
            </a:r>
            <a:endParaRPr/>
          </a:p>
          <a:p>
            <a:pPr indent="-19431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50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FF0000"/>
                </a:solidFill>
                <a:latin typeface="Baumans"/>
                <a:ea typeface="Baumans"/>
                <a:cs typeface="Baumans"/>
                <a:sym typeface="Baumans"/>
              </a:rPr>
              <a:t>FACTORS</a:t>
            </a:r>
            <a:endParaRPr/>
          </a:p>
        </p:txBody>
      </p:sp>
      <p:sp>
        <p:nvSpPr>
          <p:cNvPr id="414" name="Google Shape;414;p50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15" name="Google Shape;415;p50"/>
          <p:cNvSpPr txBox="1"/>
          <p:nvPr>
            <p:ph idx="2" type="body"/>
          </p:nvPr>
        </p:nvSpPr>
        <p:spPr>
          <a:xfrm>
            <a:off x="830066" y="1898649"/>
            <a:ext cx="10515599" cy="463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just">
              <a:spcBef>
                <a:spcPts val="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Factors provide compact ways to handle categorical data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Noto Sans Symbols"/>
              <a:buChar char="⮚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 R factor might be viewed simply as a vector with a bit more information added. That extra information consists of a record of the distinct values in that vector, calledlevels. Here’s an example: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x &lt;- c(5,12,13,12)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xf &lt;- factor(x) # The distinct values in xf—5, 12, and 13—are the levels here.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[1]5 12 13 12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Levels: 5 12 13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Common Functions Used with Factors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tapply(): tapply(x, xff, mean)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split() # , which splits a vector into groups and then applies a speciﬁed function on each group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by()</a:t>
            </a:r>
            <a:endParaRPr/>
          </a:p>
          <a:p>
            <a:pPr indent="0" lvl="0" marL="0" rtl="0" algn="ctr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1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C00000"/>
                </a:solidFill>
                <a:latin typeface="Baumans"/>
                <a:ea typeface="Baumans"/>
                <a:cs typeface="Baumans"/>
                <a:sym typeface="Baumans"/>
              </a:rPr>
              <a:t>READING(IMPORTING) DATA</a:t>
            </a:r>
            <a:endParaRPr/>
          </a:p>
        </p:txBody>
      </p:sp>
      <p:sp>
        <p:nvSpPr>
          <p:cNvPr id="421" name="Google Shape;421;p51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22" name="Google Shape;422;p51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Large data objects will usually be read as values from external files rather than entered during an R session at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keyboard. In R you can import text files with the function read.table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Syntax: read.table(“file name", arguments)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Example: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getwd()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[1] "C:/Users/hp/Desktop/R-code"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myfile&lt;- "C:/Users/hp/Desktop/R-code/Data.txt"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mydf &lt;-read.table(myfile, skip=3,sep=",", 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                   header=TRUE)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sp>
        <p:nvSpPr>
          <p:cNvPr id="423" name="Google Shape;423;p5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52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C00000"/>
                </a:solidFill>
                <a:latin typeface="Baumans"/>
                <a:ea typeface="Baumans"/>
                <a:cs typeface="Baumans"/>
                <a:sym typeface="Baumans"/>
              </a:rPr>
              <a:t>OTHER FUNCTIONS</a:t>
            </a:r>
            <a:endParaRPr/>
          </a:p>
        </p:txBody>
      </p:sp>
      <p:sp>
        <p:nvSpPr>
          <p:cNvPr id="429" name="Google Shape;429;p52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30" name="Google Shape;430;p52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just">
              <a:spcBef>
                <a:spcPts val="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read.csv # to read ―comma separated values‖ files period as a decimal 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read.delim # to read- tab delimited files period as a decimal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read.mtp is functions to read Minitab files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read.spss # to reads a file stored by the SPSS save or export commands.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read.csv2 # to reads a file separated by semicolon (;) and decimal by comma (,)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read.delim2 # to reads file separated by tab (\t) and decimal by period (.)</a:t>
            </a:r>
            <a:endParaRPr/>
          </a:p>
          <a:p>
            <a:pPr indent="-285750" lvl="0" marL="285750" rtl="0" algn="just">
              <a:spcBef>
                <a:spcPts val="960"/>
              </a:spcBef>
              <a:spcAft>
                <a:spcPts val="0"/>
              </a:spcAft>
              <a:buSzPts val="1440"/>
              <a:buFont typeface="Cambria Math"/>
              <a:buChar char="⟹"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see the built-in dataset currently available use the following command: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&gt;data()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3"/>
          <p:cNvSpPr txBox="1"/>
          <p:nvPr>
            <p:ph type="title"/>
          </p:nvPr>
        </p:nvSpPr>
        <p:spPr>
          <a:xfrm>
            <a:off x="831850" y="781050"/>
            <a:ext cx="10515600" cy="676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Baumans"/>
              <a:buNone/>
            </a:pPr>
            <a:r>
              <a:rPr lang="en-US">
                <a:solidFill>
                  <a:srgbClr val="C00000"/>
                </a:solidFill>
                <a:latin typeface="Baumans"/>
                <a:ea typeface="Baumans"/>
                <a:cs typeface="Baumans"/>
                <a:sym typeface="Baumans"/>
              </a:rPr>
              <a:t>WRITING(EXPORT) DATA</a:t>
            </a:r>
            <a:endParaRPr/>
          </a:p>
        </p:txBody>
      </p:sp>
      <p:sp>
        <p:nvSpPr>
          <p:cNvPr id="436" name="Google Shape;436;p53"/>
          <p:cNvSpPr txBox="1"/>
          <p:nvPr>
            <p:ph idx="10" type="dt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15/10/2022</a:t>
            </a:r>
            <a:endParaRPr/>
          </a:p>
        </p:txBody>
      </p:sp>
      <p:sp>
        <p:nvSpPr>
          <p:cNvPr id="437" name="Google Shape;437;p53"/>
          <p:cNvSpPr txBox="1"/>
          <p:nvPr>
            <p:ph idx="2" type="body"/>
          </p:nvPr>
        </p:nvSpPr>
        <p:spPr>
          <a:xfrm>
            <a:off x="830066" y="1898650"/>
            <a:ext cx="10515599" cy="41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data (usually a matrix) x are written to file file. If x is a two-dimensional matrix you need to transpose it to get the columns in file the same as those in the internal representation.</a:t>
            </a:r>
            <a:endParaRPr>
              <a:solidFill>
                <a:schemeClr val="lt1"/>
              </a:solidFill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# To write a CSV file for input to Excel one might use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</a:rPr>
              <a:t>write.csv(,file = "filename.csv")</a:t>
            </a:r>
            <a:endParaRPr>
              <a:solidFill>
                <a:schemeClr val="lt1"/>
              </a:solidFill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write.table(x, file = "foo.csv", sep = ",", col.names = NA, qmethod = "double")</a:t>
            </a:r>
            <a:endParaRPr b="0" i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# Writes a matrix or data frame to a file or the console, using column labels and a layout respecting columns.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write.matrix(x, file = "", sep = " ", blocksize)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save your output from a session in R can be saved using the sink command: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sink(“Rintro”) # </a:t>
            </a: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you want to save output as word use .doc/docx file extensions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turn off the sink command:</a:t>
            </a:r>
            <a:endParaRPr/>
          </a:p>
          <a:p>
            <a:pPr indent="0" lvl="0" marL="0" rtl="0" algn="just">
              <a:spcBef>
                <a:spcPts val="960"/>
              </a:spcBef>
              <a:spcAft>
                <a:spcPts val="0"/>
              </a:spcAft>
              <a:buSzPts val="1440"/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 sink()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ce">
  <a:themeElements>
    <a:clrScheme name="Slice">
      <a:dk1>
        <a:srgbClr val="000000"/>
      </a:dk1>
      <a:lt1>
        <a:srgbClr val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